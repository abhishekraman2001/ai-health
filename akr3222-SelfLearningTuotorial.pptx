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57" r:id="rId4"/>
    <p:sldId id="278" r:id="rId5"/>
    <p:sldId id="279" r:id="rId6"/>
    <p:sldId id="281" r:id="rId7"/>
    <p:sldId id="282" r:id="rId8"/>
    <p:sldId id="283" r:id="rId9"/>
    <p:sldId id="284" r:id="rId10"/>
    <p:sldId id="285" r:id="rId11"/>
    <p:sldId id="288" r:id="rId12"/>
    <p:sldId id="289" r:id="rId13"/>
    <p:sldId id="286" r:id="rId14"/>
    <p:sldId id="28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42"/>
    <p:restoredTop sz="94684"/>
  </p:normalViewPr>
  <p:slideViewPr>
    <p:cSldViewPr snapToGrid="0" snapToObjects="1">
      <p:cViewPr varScale="1">
        <p:scale>
          <a:sx n="100" d="100"/>
          <a:sy n="100" d="100"/>
        </p:scale>
        <p:origin x="688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AD0627-AEC8-452E-ACD4-4AC25F698FF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2EA9CB-399A-44EB-8E6F-1868ACA15891}">
      <dgm:prSet/>
      <dgm:spPr/>
      <dgm:t>
        <a:bodyPr/>
        <a:lstStyle/>
        <a:p>
          <a:r>
            <a:rPr lang="en-US" dirty="0"/>
            <a:t> Single dataset</a:t>
          </a:r>
        </a:p>
      </dgm:t>
    </dgm:pt>
    <dgm:pt modelId="{5C83EAAF-D061-4511-B5C8-6DF26843CBA9}" type="parTrans" cxnId="{26DFA410-08C3-4633-B341-08D9ECC9DA2F}">
      <dgm:prSet/>
      <dgm:spPr/>
      <dgm:t>
        <a:bodyPr/>
        <a:lstStyle/>
        <a:p>
          <a:endParaRPr lang="en-US"/>
        </a:p>
      </dgm:t>
    </dgm:pt>
    <dgm:pt modelId="{4A794126-4771-4111-ACBD-A78684FFF437}" type="sibTrans" cxnId="{26DFA410-08C3-4633-B341-08D9ECC9DA2F}">
      <dgm:prSet/>
      <dgm:spPr/>
      <dgm:t>
        <a:bodyPr/>
        <a:lstStyle/>
        <a:p>
          <a:endParaRPr lang="en-US"/>
        </a:p>
      </dgm:t>
    </dgm:pt>
    <dgm:pt modelId="{B13E3C94-95C6-41A9-8BD4-B9400395086E}">
      <dgm:prSet/>
      <dgm:spPr/>
      <dgm:t>
        <a:bodyPr/>
        <a:lstStyle/>
        <a:p>
          <a:r>
            <a:rPr lang="en-US" dirty="0"/>
            <a:t> Diabetes defined by diagnosis codes</a:t>
          </a:r>
        </a:p>
      </dgm:t>
    </dgm:pt>
    <dgm:pt modelId="{3B5BBF0D-6FEA-456B-93A6-58E5CE287CFE}" type="parTrans" cxnId="{918CE8CD-2FCF-4069-9250-3509182350BA}">
      <dgm:prSet/>
      <dgm:spPr/>
      <dgm:t>
        <a:bodyPr/>
        <a:lstStyle/>
        <a:p>
          <a:endParaRPr lang="en-US"/>
        </a:p>
      </dgm:t>
    </dgm:pt>
    <dgm:pt modelId="{4D402860-9C98-431D-87AC-F3EC7756EFF4}" type="sibTrans" cxnId="{918CE8CD-2FCF-4069-9250-3509182350BA}">
      <dgm:prSet/>
      <dgm:spPr/>
      <dgm:t>
        <a:bodyPr/>
        <a:lstStyle/>
        <a:p>
          <a:endParaRPr lang="en-US"/>
        </a:p>
      </dgm:t>
    </dgm:pt>
    <dgm:pt modelId="{D3F7FD14-7DA7-48C2-BFAA-8AACD98BD748}">
      <dgm:prSet/>
      <dgm:spPr/>
      <dgm:t>
        <a:bodyPr/>
        <a:lstStyle/>
        <a:p>
          <a:r>
            <a:rPr lang="en-US" dirty="0"/>
            <a:t> Simple feature set</a:t>
          </a:r>
        </a:p>
      </dgm:t>
    </dgm:pt>
    <dgm:pt modelId="{A1055B12-C653-4FF2-B08D-F329498D9791}" type="parTrans" cxnId="{4E2CC937-4F24-4283-A8F4-159EF56F9BD3}">
      <dgm:prSet/>
      <dgm:spPr/>
      <dgm:t>
        <a:bodyPr/>
        <a:lstStyle/>
        <a:p>
          <a:endParaRPr lang="en-US"/>
        </a:p>
      </dgm:t>
    </dgm:pt>
    <dgm:pt modelId="{AF33D169-76E5-455E-9C62-A8F30810C8B3}" type="sibTrans" cxnId="{4E2CC937-4F24-4283-A8F4-159EF56F9BD3}">
      <dgm:prSet/>
      <dgm:spPr/>
      <dgm:t>
        <a:bodyPr/>
        <a:lstStyle/>
        <a:p>
          <a:endParaRPr lang="en-US"/>
        </a:p>
      </dgm:t>
    </dgm:pt>
    <dgm:pt modelId="{D0F41813-A34F-491B-8E12-4F1915E09B0A}">
      <dgm:prSet/>
      <dgm:spPr/>
      <dgm:t>
        <a:bodyPr/>
        <a:lstStyle/>
        <a:p>
          <a:r>
            <a:rPr lang="en-US" dirty="0"/>
            <a:t> Educational use only</a:t>
          </a:r>
        </a:p>
      </dgm:t>
    </dgm:pt>
    <dgm:pt modelId="{92F7C868-DC44-4D3D-A092-017F4D6D002E}" type="parTrans" cxnId="{1E904F29-514A-4545-953C-FDD4493D100E}">
      <dgm:prSet/>
      <dgm:spPr/>
      <dgm:t>
        <a:bodyPr/>
        <a:lstStyle/>
        <a:p>
          <a:endParaRPr lang="en-US"/>
        </a:p>
      </dgm:t>
    </dgm:pt>
    <dgm:pt modelId="{FF749CB2-EDC8-4ABE-A235-580563225B1F}" type="sibTrans" cxnId="{1E904F29-514A-4545-953C-FDD4493D100E}">
      <dgm:prSet/>
      <dgm:spPr/>
      <dgm:t>
        <a:bodyPr/>
        <a:lstStyle/>
        <a:p>
          <a:endParaRPr lang="en-US"/>
        </a:p>
      </dgm:t>
    </dgm:pt>
    <dgm:pt modelId="{24DDCC8B-89C5-46BF-8F52-FB67F01668D1}">
      <dgm:prSet/>
      <dgm:spPr/>
      <dgm:t>
        <a:bodyPr/>
        <a:lstStyle/>
        <a:p>
          <a:r>
            <a:rPr lang="en-US" dirty="0"/>
            <a:t>Replication:</a:t>
          </a:r>
        </a:p>
      </dgm:t>
    </dgm:pt>
    <dgm:pt modelId="{6DC33518-7EC5-4F18-9EF7-43F817AFB738}" type="parTrans" cxnId="{9D18DA7D-24DE-4723-837A-2A3BCA8C5D3C}">
      <dgm:prSet/>
      <dgm:spPr/>
      <dgm:t>
        <a:bodyPr/>
        <a:lstStyle/>
        <a:p>
          <a:endParaRPr lang="en-US"/>
        </a:p>
      </dgm:t>
    </dgm:pt>
    <dgm:pt modelId="{0351C228-0B07-4791-A60C-7A8B5A7FFC8A}" type="sibTrans" cxnId="{9D18DA7D-24DE-4723-837A-2A3BCA8C5D3C}">
      <dgm:prSet/>
      <dgm:spPr/>
      <dgm:t>
        <a:bodyPr/>
        <a:lstStyle/>
        <a:p>
          <a:endParaRPr lang="en-US"/>
        </a:p>
      </dgm:t>
    </dgm:pt>
    <dgm:pt modelId="{8560CF3B-E13B-4A44-A13F-A85D55C72E65}">
      <dgm:prSet/>
      <dgm:spPr/>
      <dgm:t>
        <a:bodyPr/>
        <a:lstStyle/>
        <a:p>
          <a:r>
            <a:rPr lang="en-US" dirty="0"/>
            <a:t> Load cohort file</a:t>
          </a:r>
        </a:p>
      </dgm:t>
    </dgm:pt>
    <dgm:pt modelId="{7AE9D5F6-64B3-456A-A120-EADC66952023}" type="parTrans" cxnId="{1836502E-09B1-4004-97F7-C00DEA8EB4C4}">
      <dgm:prSet/>
      <dgm:spPr/>
      <dgm:t>
        <a:bodyPr/>
        <a:lstStyle/>
        <a:p>
          <a:endParaRPr lang="en-US"/>
        </a:p>
      </dgm:t>
    </dgm:pt>
    <dgm:pt modelId="{D1C1E419-C3A7-427C-95BD-828E65435A11}" type="sibTrans" cxnId="{1836502E-09B1-4004-97F7-C00DEA8EB4C4}">
      <dgm:prSet/>
      <dgm:spPr/>
      <dgm:t>
        <a:bodyPr/>
        <a:lstStyle/>
        <a:p>
          <a:endParaRPr lang="en-US"/>
        </a:p>
      </dgm:t>
    </dgm:pt>
    <dgm:pt modelId="{76FFEC7F-CF62-4CCB-883E-6F6FCA6A64B0}">
      <dgm:prSet/>
      <dgm:spPr/>
      <dgm:t>
        <a:bodyPr/>
        <a:lstStyle/>
        <a:p>
          <a:r>
            <a:rPr lang="en-US" dirty="0"/>
            <a:t> Run notebook in order</a:t>
          </a:r>
        </a:p>
      </dgm:t>
    </dgm:pt>
    <dgm:pt modelId="{1593485A-A6E2-4B44-A863-A186F7F857F5}" type="parTrans" cxnId="{DCC0A38F-73DD-4E37-A6CE-85DBD6400E82}">
      <dgm:prSet/>
      <dgm:spPr/>
      <dgm:t>
        <a:bodyPr/>
        <a:lstStyle/>
        <a:p>
          <a:endParaRPr lang="en-US"/>
        </a:p>
      </dgm:t>
    </dgm:pt>
    <dgm:pt modelId="{AB258805-BF24-49E0-9EF5-72E1BA5874DD}" type="sibTrans" cxnId="{DCC0A38F-73DD-4E37-A6CE-85DBD6400E82}">
      <dgm:prSet/>
      <dgm:spPr/>
      <dgm:t>
        <a:bodyPr/>
        <a:lstStyle/>
        <a:p>
          <a:endParaRPr lang="en-US"/>
        </a:p>
      </dgm:t>
    </dgm:pt>
    <dgm:pt modelId="{16678B6D-CE21-42FF-A256-DBD5C39088E6}">
      <dgm:prSet/>
      <dgm:spPr/>
      <dgm:t>
        <a:bodyPr/>
        <a:lstStyle/>
        <a:p>
          <a:r>
            <a:rPr lang="en-US" dirty="0"/>
            <a:t> Reproduce charts and metrics</a:t>
          </a:r>
        </a:p>
      </dgm:t>
    </dgm:pt>
    <dgm:pt modelId="{6B5A4138-354A-40FF-A210-8069DE494F93}" type="parTrans" cxnId="{AA59354C-E052-4B19-90BE-61FD843C080E}">
      <dgm:prSet/>
      <dgm:spPr/>
      <dgm:t>
        <a:bodyPr/>
        <a:lstStyle/>
        <a:p>
          <a:endParaRPr lang="en-US"/>
        </a:p>
      </dgm:t>
    </dgm:pt>
    <dgm:pt modelId="{539B2F60-5EB1-46B0-98A4-1D5555B032E8}" type="sibTrans" cxnId="{AA59354C-E052-4B19-90BE-61FD843C080E}">
      <dgm:prSet/>
      <dgm:spPr/>
      <dgm:t>
        <a:bodyPr/>
        <a:lstStyle/>
        <a:p>
          <a:endParaRPr lang="en-US"/>
        </a:p>
      </dgm:t>
    </dgm:pt>
    <dgm:pt modelId="{FE6FC1C6-AE61-4999-90AC-26B7DF02932A}">
      <dgm:prSet/>
      <dgm:spPr/>
      <dgm:t>
        <a:bodyPr/>
        <a:lstStyle/>
        <a:p>
          <a:r>
            <a:rPr lang="en-US" dirty="0"/>
            <a:t>Speaker notes:</a:t>
          </a:r>
        </a:p>
      </dgm:t>
    </dgm:pt>
    <dgm:pt modelId="{745D7616-4BA5-4C03-823D-FFF25244EDFA}" type="parTrans" cxnId="{CF910C8A-5AB5-4CB2-A09D-4B6D1A1F86AD}">
      <dgm:prSet/>
      <dgm:spPr/>
      <dgm:t>
        <a:bodyPr/>
        <a:lstStyle/>
        <a:p>
          <a:endParaRPr lang="en-US"/>
        </a:p>
      </dgm:t>
    </dgm:pt>
    <dgm:pt modelId="{D50B51DC-C93E-4C6E-8C61-1A0A264239E3}" type="sibTrans" cxnId="{CF910C8A-5AB5-4CB2-A09D-4B6D1A1F86AD}">
      <dgm:prSet/>
      <dgm:spPr/>
      <dgm:t>
        <a:bodyPr/>
        <a:lstStyle/>
        <a:p>
          <a:endParaRPr lang="en-US"/>
        </a:p>
      </dgm:t>
    </dgm:pt>
    <dgm:pt modelId="{29B38C4C-E097-471B-A232-6B11A1E19812}">
      <dgm:prSet/>
      <dgm:spPr/>
      <dgm:t>
        <a:bodyPr/>
        <a:lstStyle/>
        <a:p>
          <a:r>
            <a:rPr lang="en-US"/>
            <a:t>This project is designed for reproducibility and teaching, not clinical deployment.</a:t>
          </a:r>
        </a:p>
      </dgm:t>
    </dgm:pt>
    <dgm:pt modelId="{BAE4F3FE-BEF7-4EC8-B203-EEFA144D8A0E}" type="parTrans" cxnId="{EC6983C8-8433-490E-85CA-EFD4A4F5EFF3}">
      <dgm:prSet/>
      <dgm:spPr/>
      <dgm:t>
        <a:bodyPr/>
        <a:lstStyle/>
        <a:p>
          <a:endParaRPr lang="en-US"/>
        </a:p>
      </dgm:t>
    </dgm:pt>
    <dgm:pt modelId="{A0EE8350-A5E0-4E82-AE74-C33D95037F65}" type="sibTrans" cxnId="{EC6983C8-8433-490E-85CA-EFD4A4F5EFF3}">
      <dgm:prSet/>
      <dgm:spPr/>
      <dgm:t>
        <a:bodyPr/>
        <a:lstStyle/>
        <a:p>
          <a:endParaRPr lang="en-US"/>
        </a:p>
      </dgm:t>
    </dgm:pt>
    <dgm:pt modelId="{18D961E9-B7DA-6549-A9BF-8DB93AF59990}" type="pres">
      <dgm:prSet presAssocID="{FAAD0627-AEC8-452E-ACD4-4AC25F698FFD}" presName="diagram" presStyleCnt="0">
        <dgm:presLayoutVars>
          <dgm:dir/>
          <dgm:resizeHandles val="exact"/>
        </dgm:presLayoutVars>
      </dgm:prSet>
      <dgm:spPr/>
    </dgm:pt>
    <dgm:pt modelId="{8A8530EE-01F8-0A44-9B91-EEB99F7BC27B}" type="pres">
      <dgm:prSet presAssocID="{1F2EA9CB-399A-44EB-8E6F-1868ACA15891}" presName="node" presStyleLbl="node1" presStyleIdx="0" presStyleCnt="10">
        <dgm:presLayoutVars>
          <dgm:bulletEnabled val="1"/>
        </dgm:presLayoutVars>
      </dgm:prSet>
      <dgm:spPr/>
    </dgm:pt>
    <dgm:pt modelId="{ED35C57C-EDDF-1D4A-AE08-BAB3B6DA274A}" type="pres">
      <dgm:prSet presAssocID="{4A794126-4771-4111-ACBD-A78684FFF437}" presName="sibTrans" presStyleCnt="0"/>
      <dgm:spPr/>
    </dgm:pt>
    <dgm:pt modelId="{5A129108-391A-5548-81B4-75D4BD6CB294}" type="pres">
      <dgm:prSet presAssocID="{B13E3C94-95C6-41A9-8BD4-B9400395086E}" presName="node" presStyleLbl="node1" presStyleIdx="1" presStyleCnt="10">
        <dgm:presLayoutVars>
          <dgm:bulletEnabled val="1"/>
        </dgm:presLayoutVars>
      </dgm:prSet>
      <dgm:spPr/>
    </dgm:pt>
    <dgm:pt modelId="{DEDBD725-F3F6-624A-8EB4-BBE9B48B9370}" type="pres">
      <dgm:prSet presAssocID="{4D402860-9C98-431D-87AC-F3EC7756EFF4}" presName="sibTrans" presStyleCnt="0"/>
      <dgm:spPr/>
    </dgm:pt>
    <dgm:pt modelId="{9896BA50-2A78-714C-91C8-760D9183AB4A}" type="pres">
      <dgm:prSet presAssocID="{D3F7FD14-7DA7-48C2-BFAA-8AACD98BD748}" presName="node" presStyleLbl="node1" presStyleIdx="2" presStyleCnt="10">
        <dgm:presLayoutVars>
          <dgm:bulletEnabled val="1"/>
        </dgm:presLayoutVars>
      </dgm:prSet>
      <dgm:spPr/>
    </dgm:pt>
    <dgm:pt modelId="{4E425D5A-B116-9440-9F76-95B44A8C601E}" type="pres">
      <dgm:prSet presAssocID="{AF33D169-76E5-455E-9C62-A8F30810C8B3}" presName="sibTrans" presStyleCnt="0"/>
      <dgm:spPr/>
    </dgm:pt>
    <dgm:pt modelId="{7C42CC6B-DC82-1846-8549-8E8C45EBBC76}" type="pres">
      <dgm:prSet presAssocID="{D0F41813-A34F-491B-8E12-4F1915E09B0A}" presName="node" presStyleLbl="node1" presStyleIdx="3" presStyleCnt="10">
        <dgm:presLayoutVars>
          <dgm:bulletEnabled val="1"/>
        </dgm:presLayoutVars>
      </dgm:prSet>
      <dgm:spPr/>
    </dgm:pt>
    <dgm:pt modelId="{F1CE1738-9B32-D94C-BDF6-A9629B42349B}" type="pres">
      <dgm:prSet presAssocID="{FF749CB2-EDC8-4ABE-A235-580563225B1F}" presName="sibTrans" presStyleCnt="0"/>
      <dgm:spPr/>
    </dgm:pt>
    <dgm:pt modelId="{707DC925-0883-7D42-81D5-337492041626}" type="pres">
      <dgm:prSet presAssocID="{24DDCC8B-89C5-46BF-8F52-FB67F01668D1}" presName="node" presStyleLbl="node1" presStyleIdx="4" presStyleCnt="10">
        <dgm:presLayoutVars>
          <dgm:bulletEnabled val="1"/>
        </dgm:presLayoutVars>
      </dgm:prSet>
      <dgm:spPr/>
    </dgm:pt>
    <dgm:pt modelId="{4A1D76D4-770F-2944-9B5A-D2BAF7741338}" type="pres">
      <dgm:prSet presAssocID="{0351C228-0B07-4791-A60C-7A8B5A7FFC8A}" presName="sibTrans" presStyleCnt="0"/>
      <dgm:spPr/>
    </dgm:pt>
    <dgm:pt modelId="{39E79416-5A91-D74D-AA3E-BE6DDCDCF91E}" type="pres">
      <dgm:prSet presAssocID="{8560CF3B-E13B-4A44-A13F-A85D55C72E65}" presName="node" presStyleLbl="node1" presStyleIdx="5" presStyleCnt="10">
        <dgm:presLayoutVars>
          <dgm:bulletEnabled val="1"/>
        </dgm:presLayoutVars>
      </dgm:prSet>
      <dgm:spPr/>
    </dgm:pt>
    <dgm:pt modelId="{1543CD19-EA7C-2C4D-8755-175C28E6AAD2}" type="pres">
      <dgm:prSet presAssocID="{D1C1E419-C3A7-427C-95BD-828E65435A11}" presName="sibTrans" presStyleCnt="0"/>
      <dgm:spPr/>
    </dgm:pt>
    <dgm:pt modelId="{52035D16-E2E2-F24F-B167-8076EAF722CB}" type="pres">
      <dgm:prSet presAssocID="{76FFEC7F-CF62-4CCB-883E-6F6FCA6A64B0}" presName="node" presStyleLbl="node1" presStyleIdx="6" presStyleCnt="10">
        <dgm:presLayoutVars>
          <dgm:bulletEnabled val="1"/>
        </dgm:presLayoutVars>
      </dgm:prSet>
      <dgm:spPr/>
    </dgm:pt>
    <dgm:pt modelId="{439DB273-AC8F-354F-B02F-EF4A5CB20809}" type="pres">
      <dgm:prSet presAssocID="{AB258805-BF24-49E0-9EF5-72E1BA5874DD}" presName="sibTrans" presStyleCnt="0"/>
      <dgm:spPr/>
    </dgm:pt>
    <dgm:pt modelId="{76256357-65E2-6745-A153-62DB4334C656}" type="pres">
      <dgm:prSet presAssocID="{16678B6D-CE21-42FF-A256-DBD5C39088E6}" presName="node" presStyleLbl="node1" presStyleIdx="7" presStyleCnt="10">
        <dgm:presLayoutVars>
          <dgm:bulletEnabled val="1"/>
        </dgm:presLayoutVars>
      </dgm:prSet>
      <dgm:spPr/>
    </dgm:pt>
    <dgm:pt modelId="{3BCCB9EA-82D5-FF43-9DCC-A4850C4E3219}" type="pres">
      <dgm:prSet presAssocID="{539B2F60-5EB1-46B0-98A4-1D5555B032E8}" presName="sibTrans" presStyleCnt="0"/>
      <dgm:spPr/>
    </dgm:pt>
    <dgm:pt modelId="{F8B0A9D3-899A-7D45-816F-019B2F07CCD9}" type="pres">
      <dgm:prSet presAssocID="{FE6FC1C6-AE61-4999-90AC-26B7DF02932A}" presName="node" presStyleLbl="node1" presStyleIdx="8" presStyleCnt="10">
        <dgm:presLayoutVars>
          <dgm:bulletEnabled val="1"/>
        </dgm:presLayoutVars>
      </dgm:prSet>
      <dgm:spPr/>
    </dgm:pt>
    <dgm:pt modelId="{6F18EFFA-889C-6A4C-8EA0-B20F97A94238}" type="pres">
      <dgm:prSet presAssocID="{D50B51DC-C93E-4C6E-8C61-1A0A264239E3}" presName="sibTrans" presStyleCnt="0"/>
      <dgm:spPr/>
    </dgm:pt>
    <dgm:pt modelId="{2ECC531A-6A07-B945-B8D5-CD6159A4215E}" type="pres">
      <dgm:prSet presAssocID="{29B38C4C-E097-471B-A232-6B11A1E19812}" presName="node" presStyleLbl="node1" presStyleIdx="9" presStyleCnt="10">
        <dgm:presLayoutVars>
          <dgm:bulletEnabled val="1"/>
        </dgm:presLayoutVars>
      </dgm:prSet>
      <dgm:spPr/>
    </dgm:pt>
  </dgm:ptLst>
  <dgm:cxnLst>
    <dgm:cxn modelId="{26DFA410-08C3-4633-B341-08D9ECC9DA2F}" srcId="{FAAD0627-AEC8-452E-ACD4-4AC25F698FFD}" destId="{1F2EA9CB-399A-44EB-8E6F-1868ACA15891}" srcOrd="0" destOrd="0" parTransId="{5C83EAAF-D061-4511-B5C8-6DF26843CBA9}" sibTransId="{4A794126-4771-4111-ACBD-A78684FFF437}"/>
    <dgm:cxn modelId="{68DC2A13-F45A-9D40-AB62-E686E6BBEAD5}" type="presOf" srcId="{FE6FC1C6-AE61-4999-90AC-26B7DF02932A}" destId="{F8B0A9D3-899A-7D45-816F-019B2F07CCD9}" srcOrd="0" destOrd="0" presId="urn:microsoft.com/office/officeart/2005/8/layout/default"/>
    <dgm:cxn modelId="{21335E1F-8079-6A4F-8D47-F59B15278B32}" type="presOf" srcId="{8560CF3B-E13B-4A44-A13F-A85D55C72E65}" destId="{39E79416-5A91-D74D-AA3E-BE6DDCDCF91E}" srcOrd="0" destOrd="0" presId="urn:microsoft.com/office/officeart/2005/8/layout/default"/>
    <dgm:cxn modelId="{1E904F29-514A-4545-953C-FDD4493D100E}" srcId="{FAAD0627-AEC8-452E-ACD4-4AC25F698FFD}" destId="{D0F41813-A34F-491B-8E12-4F1915E09B0A}" srcOrd="3" destOrd="0" parTransId="{92F7C868-DC44-4D3D-A092-017F4D6D002E}" sibTransId="{FF749CB2-EDC8-4ABE-A235-580563225B1F}"/>
    <dgm:cxn modelId="{1836502E-09B1-4004-97F7-C00DEA8EB4C4}" srcId="{FAAD0627-AEC8-452E-ACD4-4AC25F698FFD}" destId="{8560CF3B-E13B-4A44-A13F-A85D55C72E65}" srcOrd="5" destOrd="0" parTransId="{7AE9D5F6-64B3-456A-A120-EADC66952023}" sibTransId="{D1C1E419-C3A7-427C-95BD-828E65435A11}"/>
    <dgm:cxn modelId="{29E9CB32-F6D9-2249-944C-172389586FB9}" type="presOf" srcId="{D0F41813-A34F-491B-8E12-4F1915E09B0A}" destId="{7C42CC6B-DC82-1846-8549-8E8C45EBBC76}" srcOrd="0" destOrd="0" presId="urn:microsoft.com/office/officeart/2005/8/layout/default"/>
    <dgm:cxn modelId="{4E2CC937-4F24-4283-A8F4-159EF56F9BD3}" srcId="{FAAD0627-AEC8-452E-ACD4-4AC25F698FFD}" destId="{D3F7FD14-7DA7-48C2-BFAA-8AACD98BD748}" srcOrd="2" destOrd="0" parTransId="{A1055B12-C653-4FF2-B08D-F329498D9791}" sibTransId="{AF33D169-76E5-455E-9C62-A8F30810C8B3}"/>
    <dgm:cxn modelId="{C8A9E63B-8382-0F4A-A5F8-2C0858DE08D5}" type="presOf" srcId="{24DDCC8B-89C5-46BF-8F52-FB67F01668D1}" destId="{707DC925-0883-7D42-81D5-337492041626}" srcOrd="0" destOrd="0" presId="urn:microsoft.com/office/officeart/2005/8/layout/default"/>
    <dgm:cxn modelId="{0C83C74B-A4CF-E24C-83AC-EDC157DCF59F}" type="presOf" srcId="{76FFEC7F-CF62-4CCB-883E-6F6FCA6A64B0}" destId="{52035D16-E2E2-F24F-B167-8076EAF722CB}" srcOrd="0" destOrd="0" presId="urn:microsoft.com/office/officeart/2005/8/layout/default"/>
    <dgm:cxn modelId="{AA59354C-E052-4B19-90BE-61FD843C080E}" srcId="{FAAD0627-AEC8-452E-ACD4-4AC25F698FFD}" destId="{16678B6D-CE21-42FF-A256-DBD5C39088E6}" srcOrd="7" destOrd="0" parTransId="{6B5A4138-354A-40FF-A210-8069DE494F93}" sibTransId="{539B2F60-5EB1-46B0-98A4-1D5555B032E8}"/>
    <dgm:cxn modelId="{D7CA446B-5F2B-9F4C-96E2-1A92056D6985}" type="presOf" srcId="{FAAD0627-AEC8-452E-ACD4-4AC25F698FFD}" destId="{18D961E9-B7DA-6549-A9BF-8DB93AF59990}" srcOrd="0" destOrd="0" presId="urn:microsoft.com/office/officeart/2005/8/layout/default"/>
    <dgm:cxn modelId="{9D18DA7D-24DE-4723-837A-2A3BCA8C5D3C}" srcId="{FAAD0627-AEC8-452E-ACD4-4AC25F698FFD}" destId="{24DDCC8B-89C5-46BF-8F52-FB67F01668D1}" srcOrd="4" destOrd="0" parTransId="{6DC33518-7EC5-4F18-9EF7-43F817AFB738}" sibTransId="{0351C228-0B07-4791-A60C-7A8B5A7FFC8A}"/>
    <dgm:cxn modelId="{CF910C8A-5AB5-4CB2-A09D-4B6D1A1F86AD}" srcId="{FAAD0627-AEC8-452E-ACD4-4AC25F698FFD}" destId="{FE6FC1C6-AE61-4999-90AC-26B7DF02932A}" srcOrd="8" destOrd="0" parTransId="{745D7616-4BA5-4C03-823D-FFF25244EDFA}" sibTransId="{D50B51DC-C93E-4C6E-8C61-1A0A264239E3}"/>
    <dgm:cxn modelId="{2073658B-21E0-A246-AAB6-03C9D94387B3}" type="presOf" srcId="{1F2EA9CB-399A-44EB-8E6F-1868ACA15891}" destId="{8A8530EE-01F8-0A44-9B91-EEB99F7BC27B}" srcOrd="0" destOrd="0" presId="urn:microsoft.com/office/officeart/2005/8/layout/default"/>
    <dgm:cxn modelId="{2F67628D-53D7-2240-AA09-752827A45925}" type="presOf" srcId="{D3F7FD14-7DA7-48C2-BFAA-8AACD98BD748}" destId="{9896BA50-2A78-714C-91C8-760D9183AB4A}" srcOrd="0" destOrd="0" presId="urn:microsoft.com/office/officeart/2005/8/layout/default"/>
    <dgm:cxn modelId="{DCC0A38F-73DD-4E37-A6CE-85DBD6400E82}" srcId="{FAAD0627-AEC8-452E-ACD4-4AC25F698FFD}" destId="{76FFEC7F-CF62-4CCB-883E-6F6FCA6A64B0}" srcOrd="6" destOrd="0" parTransId="{1593485A-A6E2-4B44-A863-A186F7F857F5}" sibTransId="{AB258805-BF24-49E0-9EF5-72E1BA5874DD}"/>
    <dgm:cxn modelId="{1F7BFF90-F7BB-824C-8792-F79952E651B4}" type="presOf" srcId="{B13E3C94-95C6-41A9-8BD4-B9400395086E}" destId="{5A129108-391A-5548-81B4-75D4BD6CB294}" srcOrd="0" destOrd="0" presId="urn:microsoft.com/office/officeart/2005/8/layout/default"/>
    <dgm:cxn modelId="{E30213A5-0050-7F4F-99CA-163E2ED6C00C}" type="presOf" srcId="{29B38C4C-E097-471B-A232-6B11A1E19812}" destId="{2ECC531A-6A07-B945-B8D5-CD6159A4215E}" srcOrd="0" destOrd="0" presId="urn:microsoft.com/office/officeart/2005/8/layout/default"/>
    <dgm:cxn modelId="{C53BBAAC-554E-0F46-BEE9-A465A534704D}" type="presOf" srcId="{16678B6D-CE21-42FF-A256-DBD5C39088E6}" destId="{76256357-65E2-6745-A153-62DB4334C656}" srcOrd="0" destOrd="0" presId="urn:microsoft.com/office/officeart/2005/8/layout/default"/>
    <dgm:cxn modelId="{EC6983C8-8433-490E-85CA-EFD4A4F5EFF3}" srcId="{FAAD0627-AEC8-452E-ACD4-4AC25F698FFD}" destId="{29B38C4C-E097-471B-A232-6B11A1E19812}" srcOrd="9" destOrd="0" parTransId="{BAE4F3FE-BEF7-4EC8-B203-EEFA144D8A0E}" sibTransId="{A0EE8350-A5E0-4E82-AE74-C33D95037F65}"/>
    <dgm:cxn modelId="{918CE8CD-2FCF-4069-9250-3509182350BA}" srcId="{FAAD0627-AEC8-452E-ACD4-4AC25F698FFD}" destId="{B13E3C94-95C6-41A9-8BD4-B9400395086E}" srcOrd="1" destOrd="0" parTransId="{3B5BBF0D-6FEA-456B-93A6-58E5CE287CFE}" sibTransId="{4D402860-9C98-431D-87AC-F3EC7756EFF4}"/>
    <dgm:cxn modelId="{CA71E56E-7A1E-9741-B11A-2AD331D3CB20}" type="presParOf" srcId="{18D961E9-B7DA-6549-A9BF-8DB93AF59990}" destId="{8A8530EE-01F8-0A44-9B91-EEB99F7BC27B}" srcOrd="0" destOrd="0" presId="urn:microsoft.com/office/officeart/2005/8/layout/default"/>
    <dgm:cxn modelId="{B9A3D822-3D98-9B46-B9E5-BA15BF82448D}" type="presParOf" srcId="{18D961E9-B7DA-6549-A9BF-8DB93AF59990}" destId="{ED35C57C-EDDF-1D4A-AE08-BAB3B6DA274A}" srcOrd="1" destOrd="0" presId="urn:microsoft.com/office/officeart/2005/8/layout/default"/>
    <dgm:cxn modelId="{BCA649F7-E0CB-5C46-8381-39C578ECA798}" type="presParOf" srcId="{18D961E9-B7DA-6549-A9BF-8DB93AF59990}" destId="{5A129108-391A-5548-81B4-75D4BD6CB294}" srcOrd="2" destOrd="0" presId="urn:microsoft.com/office/officeart/2005/8/layout/default"/>
    <dgm:cxn modelId="{FFBA3E9A-E1AF-D241-ABE4-E2DA5B6BC245}" type="presParOf" srcId="{18D961E9-B7DA-6549-A9BF-8DB93AF59990}" destId="{DEDBD725-F3F6-624A-8EB4-BBE9B48B9370}" srcOrd="3" destOrd="0" presId="urn:microsoft.com/office/officeart/2005/8/layout/default"/>
    <dgm:cxn modelId="{8D9E8735-7197-684B-B359-F6D811B44A12}" type="presParOf" srcId="{18D961E9-B7DA-6549-A9BF-8DB93AF59990}" destId="{9896BA50-2A78-714C-91C8-760D9183AB4A}" srcOrd="4" destOrd="0" presId="urn:microsoft.com/office/officeart/2005/8/layout/default"/>
    <dgm:cxn modelId="{A8D2C0B8-C2CF-7D44-A39D-18D1EA40278C}" type="presParOf" srcId="{18D961E9-B7DA-6549-A9BF-8DB93AF59990}" destId="{4E425D5A-B116-9440-9F76-95B44A8C601E}" srcOrd="5" destOrd="0" presId="urn:microsoft.com/office/officeart/2005/8/layout/default"/>
    <dgm:cxn modelId="{E3FDBEDF-09E3-6A44-8C4C-53C25D40F1DB}" type="presParOf" srcId="{18D961E9-B7DA-6549-A9BF-8DB93AF59990}" destId="{7C42CC6B-DC82-1846-8549-8E8C45EBBC76}" srcOrd="6" destOrd="0" presId="urn:microsoft.com/office/officeart/2005/8/layout/default"/>
    <dgm:cxn modelId="{99C7F401-A18B-9C4E-9E30-628E929838E5}" type="presParOf" srcId="{18D961E9-B7DA-6549-A9BF-8DB93AF59990}" destId="{F1CE1738-9B32-D94C-BDF6-A9629B42349B}" srcOrd="7" destOrd="0" presId="urn:microsoft.com/office/officeart/2005/8/layout/default"/>
    <dgm:cxn modelId="{1380C16E-F786-F942-AF0F-6BC2206353A5}" type="presParOf" srcId="{18D961E9-B7DA-6549-A9BF-8DB93AF59990}" destId="{707DC925-0883-7D42-81D5-337492041626}" srcOrd="8" destOrd="0" presId="urn:microsoft.com/office/officeart/2005/8/layout/default"/>
    <dgm:cxn modelId="{41D997CA-C802-2A42-8741-920356032888}" type="presParOf" srcId="{18D961E9-B7DA-6549-A9BF-8DB93AF59990}" destId="{4A1D76D4-770F-2944-9B5A-D2BAF7741338}" srcOrd="9" destOrd="0" presId="urn:microsoft.com/office/officeart/2005/8/layout/default"/>
    <dgm:cxn modelId="{33EE5355-86A6-6F44-A62D-D03C80311A94}" type="presParOf" srcId="{18D961E9-B7DA-6549-A9BF-8DB93AF59990}" destId="{39E79416-5A91-D74D-AA3E-BE6DDCDCF91E}" srcOrd="10" destOrd="0" presId="urn:microsoft.com/office/officeart/2005/8/layout/default"/>
    <dgm:cxn modelId="{9762C982-3458-4347-978D-234B75EB972B}" type="presParOf" srcId="{18D961E9-B7DA-6549-A9BF-8DB93AF59990}" destId="{1543CD19-EA7C-2C4D-8755-175C28E6AAD2}" srcOrd="11" destOrd="0" presId="urn:microsoft.com/office/officeart/2005/8/layout/default"/>
    <dgm:cxn modelId="{883BA2C4-EB53-7E41-B7F2-841E44FB044F}" type="presParOf" srcId="{18D961E9-B7DA-6549-A9BF-8DB93AF59990}" destId="{52035D16-E2E2-F24F-B167-8076EAF722CB}" srcOrd="12" destOrd="0" presId="urn:microsoft.com/office/officeart/2005/8/layout/default"/>
    <dgm:cxn modelId="{547AC6DA-3474-7843-8A45-AC7EC975AF5B}" type="presParOf" srcId="{18D961E9-B7DA-6549-A9BF-8DB93AF59990}" destId="{439DB273-AC8F-354F-B02F-EF4A5CB20809}" srcOrd="13" destOrd="0" presId="urn:microsoft.com/office/officeart/2005/8/layout/default"/>
    <dgm:cxn modelId="{D8BEDF03-ACBA-7545-90A3-8EF1B17E3228}" type="presParOf" srcId="{18D961E9-B7DA-6549-A9BF-8DB93AF59990}" destId="{76256357-65E2-6745-A153-62DB4334C656}" srcOrd="14" destOrd="0" presId="urn:microsoft.com/office/officeart/2005/8/layout/default"/>
    <dgm:cxn modelId="{76F92BAE-9C79-5247-B098-8470908D2DCE}" type="presParOf" srcId="{18D961E9-B7DA-6549-A9BF-8DB93AF59990}" destId="{3BCCB9EA-82D5-FF43-9DCC-A4850C4E3219}" srcOrd="15" destOrd="0" presId="urn:microsoft.com/office/officeart/2005/8/layout/default"/>
    <dgm:cxn modelId="{87A61428-C19A-9C4D-9C0E-EF70A3C954D9}" type="presParOf" srcId="{18D961E9-B7DA-6549-A9BF-8DB93AF59990}" destId="{F8B0A9D3-899A-7D45-816F-019B2F07CCD9}" srcOrd="16" destOrd="0" presId="urn:microsoft.com/office/officeart/2005/8/layout/default"/>
    <dgm:cxn modelId="{6F00A609-FE64-474C-8806-7E0E488D001C}" type="presParOf" srcId="{18D961E9-B7DA-6549-A9BF-8DB93AF59990}" destId="{6F18EFFA-889C-6A4C-8EA0-B20F97A94238}" srcOrd="17" destOrd="0" presId="urn:microsoft.com/office/officeart/2005/8/layout/default"/>
    <dgm:cxn modelId="{75265578-F094-A243-8960-274D74F59455}" type="presParOf" srcId="{18D961E9-B7DA-6549-A9BF-8DB93AF59990}" destId="{2ECC531A-6A07-B945-B8D5-CD6159A4215E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530EE-01F8-0A44-9B91-EEB99F7BC27B}">
      <dsp:nvSpPr>
        <dsp:cNvPr id="0" name=""/>
        <dsp:cNvSpPr/>
      </dsp:nvSpPr>
      <dsp:spPr>
        <a:xfrm>
          <a:off x="0" y="384083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Single dataset</a:t>
          </a:r>
        </a:p>
      </dsp:txBody>
      <dsp:txXfrm>
        <a:off x="0" y="384083"/>
        <a:ext cx="1497168" cy="898301"/>
      </dsp:txXfrm>
    </dsp:sp>
    <dsp:sp modelId="{5A129108-391A-5548-81B4-75D4BD6CB294}">
      <dsp:nvSpPr>
        <dsp:cNvPr id="0" name=""/>
        <dsp:cNvSpPr/>
      </dsp:nvSpPr>
      <dsp:spPr>
        <a:xfrm>
          <a:off x="1646885" y="384083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Diabetes defined by diagnosis codes</a:t>
          </a:r>
        </a:p>
      </dsp:txBody>
      <dsp:txXfrm>
        <a:off x="1646885" y="384083"/>
        <a:ext cx="1497168" cy="898301"/>
      </dsp:txXfrm>
    </dsp:sp>
    <dsp:sp modelId="{9896BA50-2A78-714C-91C8-760D9183AB4A}">
      <dsp:nvSpPr>
        <dsp:cNvPr id="0" name=""/>
        <dsp:cNvSpPr/>
      </dsp:nvSpPr>
      <dsp:spPr>
        <a:xfrm>
          <a:off x="3293771" y="384083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Simple feature set</a:t>
          </a:r>
        </a:p>
      </dsp:txBody>
      <dsp:txXfrm>
        <a:off x="3293771" y="384083"/>
        <a:ext cx="1497168" cy="898301"/>
      </dsp:txXfrm>
    </dsp:sp>
    <dsp:sp modelId="{7C42CC6B-DC82-1846-8549-8E8C45EBBC76}">
      <dsp:nvSpPr>
        <dsp:cNvPr id="0" name=""/>
        <dsp:cNvSpPr/>
      </dsp:nvSpPr>
      <dsp:spPr>
        <a:xfrm>
          <a:off x="0" y="1432101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Educational use only</a:t>
          </a:r>
        </a:p>
      </dsp:txBody>
      <dsp:txXfrm>
        <a:off x="0" y="1432101"/>
        <a:ext cx="1497168" cy="898301"/>
      </dsp:txXfrm>
    </dsp:sp>
    <dsp:sp modelId="{707DC925-0883-7D42-81D5-337492041626}">
      <dsp:nvSpPr>
        <dsp:cNvPr id="0" name=""/>
        <dsp:cNvSpPr/>
      </dsp:nvSpPr>
      <dsp:spPr>
        <a:xfrm>
          <a:off x="1646885" y="1432101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Replication:</a:t>
          </a:r>
        </a:p>
      </dsp:txBody>
      <dsp:txXfrm>
        <a:off x="1646885" y="1432101"/>
        <a:ext cx="1497168" cy="898301"/>
      </dsp:txXfrm>
    </dsp:sp>
    <dsp:sp modelId="{39E79416-5A91-D74D-AA3E-BE6DDCDCF91E}">
      <dsp:nvSpPr>
        <dsp:cNvPr id="0" name=""/>
        <dsp:cNvSpPr/>
      </dsp:nvSpPr>
      <dsp:spPr>
        <a:xfrm>
          <a:off x="3293771" y="1432101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Load cohort file</a:t>
          </a:r>
        </a:p>
      </dsp:txBody>
      <dsp:txXfrm>
        <a:off x="3293771" y="1432101"/>
        <a:ext cx="1497168" cy="898301"/>
      </dsp:txXfrm>
    </dsp:sp>
    <dsp:sp modelId="{52035D16-E2E2-F24F-B167-8076EAF722CB}">
      <dsp:nvSpPr>
        <dsp:cNvPr id="0" name=""/>
        <dsp:cNvSpPr/>
      </dsp:nvSpPr>
      <dsp:spPr>
        <a:xfrm>
          <a:off x="0" y="2480119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Run notebook in order</a:t>
          </a:r>
        </a:p>
      </dsp:txBody>
      <dsp:txXfrm>
        <a:off x="0" y="2480119"/>
        <a:ext cx="1497168" cy="898301"/>
      </dsp:txXfrm>
    </dsp:sp>
    <dsp:sp modelId="{76256357-65E2-6745-A153-62DB4334C656}">
      <dsp:nvSpPr>
        <dsp:cNvPr id="0" name=""/>
        <dsp:cNvSpPr/>
      </dsp:nvSpPr>
      <dsp:spPr>
        <a:xfrm>
          <a:off x="1646885" y="2480119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Reproduce charts and metrics</a:t>
          </a:r>
        </a:p>
      </dsp:txBody>
      <dsp:txXfrm>
        <a:off x="1646885" y="2480119"/>
        <a:ext cx="1497168" cy="898301"/>
      </dsp:txXfrm>
    </dsp:sp>
    <dsp:sp modelId="{F8B0A9D3-899A-7D45-816F-019B2F07CCD9}">
      <dsp:nvSpPr>
        <dsp:cNvPr id="0" name=""/>
        <dsp:cNvSpPr/>
      </dsp:nvSpPr>
      <dsp:spPr>
        <a:xfrm>
          <a:off x="3293771" y="2480119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Speaker notes:</a:t>
          </a:r>
        </a:p>
      </dsp:txBody>
      <dsp:txXfrm>
        <a:off x="3293771" y="2480119"/>
        <a:ext cx="1497168" cy="898301"/>
      </dsp:txXfrm>
    </dsp:sp>
    <dsp:sp modelId="{2ECC531A-6A07-B945-B8D5-CD6159A4215E}">
      <dsp:nvSpPr>
        <dsp:cNvPr id="0" name=""/>
        <dsp:cNvSpPr/>
      </dsp:nvSpPr>
      <dsp:spPr>
        <a:xfrm>
          <a:off x="1646885" y="3528138"/>
          <a:ext cx="1497168" cy="898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project is designed for reproducibility and teaching, not clinical deployment.</a:t>
          </a:r>
        </a:p>
      </dsp:txBody>
      <dsp:txXfrm>
        <a:off x="1646885" y="3528138"/>
        <a:ext cx="1497168" cy="8983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1FDA-B39B-3F48-8DF9-7B4994C3FEDB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9374F-9954-F24E-8880-8CA162CE8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9374F-9954-F24E-8880-8CA162CE8C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6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4700" b="1" i="1" dirty="0">
                <a:latin typeface="Calibri" pitchFamily="34" charset="0"/>
                <a:cs typeface="Calibri" pitchFamily="34" charset="-120"/>
              </a:rPr>
              <a:t>Predicting ICU Length of Stay in Diabetic Patients Using MIMIC-III and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i="1" dirty="0"/>
              <a:t>Healthcare Research &amp; Quality Improvement Study</a:t>
            </a:r>
          </a:p>
          <a:p>
            <a:pPr algn="l">
              <a:lnSpc>
                <a:spcPct val="90000"/>
              </a:lnSpc>
            </a:pPr>
            <a:r>
              <a:rPr lang="en-US" sz="2500" i="1" dirty="0"/>
              <a:t>Data: Google: MIMIC-III</a:t>
            </a:r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99887866-A617-BC43-7942-6441807FC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41" r="12186" b="-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2AEAD-A989-2A5E-6AA5-19FEFEBE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AE640-440D-5606-D78D-FB660BEF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Tutorial</a:t>
            </a:r>
            <a:r>
              <a:rPr lang="en-US" sz="3600" b="1" dirty="0"/>
              <a:t> </a:t>
            </a:r>
            <a: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065FB-C65B-5BF2-49AF-E926B330B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337" y="649480"/>
            <a:ext cx="5774479" cy="5546047"/>
          </a:xfrm>
          <a:noFill/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700" b="1" dirty="0"/>
              <a:t>Tutorial: Selg Learning:-</a:t>
            </a:r>
          </a:p>
          <a:p>
            <a:pPr marL="0" indent="0">
              <a:buNone/>
            </a:pPr>
            <a:endParaRPr lang="en-US" sz="1700" b="1" dirty="0"/>
          </a:p>
          <a:p>
            <a:pPr>
              <a:buFont typeface="Wingdings" pitchFamily="2" charset="2"/>
              <a:buChar char="Ø"/>
            </a:pPr>
            <a:r>
              <a:rPr lang="en-US" sz="1700" dirty="0"/>
              <a:t>Identify diabetic ICU patients from MIMIC-III structured data</a:t>
            </a:r>
          </a:p>
          <a:p>
            <a:pPr>
              <a:buFont typeface="Wingdings" pitchFamily="2" charset="2"/>
              <a:buChar char="Ø"/>
            </a:pPr>
            <a:r>
              <a:rPr lang="en-US" sz="1700" dirty="0"/>
              <a:t>Engineer simple clinical and demographic features</a:t>
            </a:r>
          </a:p>
          <a:p>
            <a:pPr>
              <a:buFont typeface="Wingdings" pitchFamily="2" charset="2"/>
              <a:buChar char="Ø"/>
            </a:pPr>
            <a:r>
              <a:rPr lang="en-US" sz="1700" dirty="0"/>
              <a:t>Predict ICU length-of-stay category using machine learning</a:t>
            </a:r>
          </a:p>
          <a:p>
            <a:pPr marL="0" indent="0">
              <a:buNone/>
            </a:pPr>
            <a:endParaRPr lang="en-US" sz="1700" dirty="0"/>
          </a:p>
          <a:p>
            <a:pPr>
              <a:buFont typeface="Wingdings" pitchFamily="2" charset="2"/>
              <a:buChar char="v"/>
            </a:pPr>
            <a:r>
              <a:rPr lang="en-US" sz="1700" b="1" dirty="0"/>
              <a:t>Problem Statement</a:t>
            </a:r>
          </a:p>
          <a:p>
            <a:pPr marL="0" indent="0">
              <a:buNone/>
            </a:pPr>
            <a:r>
              <a:rPr lang="en-US" sz="1700" dirty="0"/>
              <a:t>	Diabetes is a common chronic 	disease that can 	complicate hospitalization and ICU care. This tutorial 	demonstrates how structured EHR data can be used to 	classify ICU stay into:</a:t>
            </a:r>
          </a:p>
          <a:p>
            <a:pPr>
              <a:buFont typeface="Wingdings" pitchFamily="2" charset="2"/>
              <a:buChar char="Ø"/>
            </a:pPr>
            <a:r>
              <a:rPr lang="en-US" sz="1700" b="1" dirty="0"/>
              <a:t>Short stay</a:t>
            </a:r>
            <a:r>
              <a:rPr lang="en-US" sz="1700" dirty="0"/>
              <a:t>: less than 2 days</a:t>
            </a:r>
          </a:p>
          <a:p>
            <a:pPr>
              <a:buFont typeface="Wingdings" pitchFamily="2" charset="2"/>
              <a:buChar char="Ø"/>
            </a:pPr>
            <a:r>
              <a:rPr lang="en-US" sz="1700" b="1" dirty="0"/>
              <a:t>Medium stay</a:t>
            </a:r>
            <a:r>
              <a:rPr lang="en-US" sz="1700" dirty="0"/>
              <a:t>: 2 to 7 days</a:t>
            </a:r>
          </a:p>
          <a:p>
            <a:pPr>
              <a:buFont typeface="Wingdings" pitchFamily="2" charset="2"/>
              <a:buChar char="Ø"/>
            </a:pPr>
            <a:r>
              <a:rPr lang="en-US" sz="1700" b="1" dirty="0"/>
              <a:t>Long stay</a:t>
            </a:r>
            <a:r>
              <a:rPr lang="en-US" sz="1700" dirty="0"/>
              <a:t>: more than 7 days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5817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Diabetes</a:t>
            </a:r>
            <a:b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Topic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1700" dirty="0"/>
              <a:t>	Patients hospitalized due to diabetes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sz="1700" dirty="0"/>
          </a:p>
          <a:p>
            <a:pPr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1700" dirty="0"/>
              <a:t>Diabetic ICU care is often more complex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1700" dirty="0"/>
              <a:t>Predicting LOS can help with planning and resource allocation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sz="1700" dirty="0"/>
          </a:p>
          <a:p>
            <a:pPr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1700" dirty="0"/>
              <a:t>Speaker notes: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700" dirty="0"/>
              <a:t>Diabetes can complicate ICU treatment and recovery. Predicting ICU stay length can support hospital planning and demonstrates a practical healthcare ML use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1F527-6D8C-AF00-4758-A7EFFBB6D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9226B-C5DC-57C7-DF18-8B779A28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6AE7-AF83-8C7E-72DD-B5140624F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589" y="649480"/>
            <a:ext cx="5251615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sz="1800" dirty="0"/>
              <a:t>Identify diabetic ICU patients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Build structured features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Predict ICU LOS category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Teach the process clearly and reproducibly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1800" dirty="0"/>
              <a:t>Speaker notes: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 dirty="0"/>
              <a:t>The goal is to teach a complete workflow: cohort selection, preprocessing, feature engineering, modeling,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334957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1B984-45B9-0670-8612-06AB0F132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74A5F-AED0-F9DF-F5D1-EEE07128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F87E3-62C8-3C9D-853F-699B632EE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700" dirty="0"/>
              <a:t>Can structured MIMIC-III data predict whether a diabetic ICU patient will have: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/>
              <a:t>Short stay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/>
              <a:t>Medium stay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/>
              <a:t>Long stay</a:t>
            </a:r>
          </a:p>
          <a:p>
            <a:pPr marL="457200" lvl="1" indent="0">
              <a:buNone/>
            </a:pPr>
            <a:endParaRPr lang="en-US" sz="1700" dirty="0"/>
          </a:p>
          <a:p>
            <a:pPr marL="457200" lvl="1" indent="0">
              <a:buNone/>
            </a:pPr>
            <a:endParaRPr lang="en-US" sz="1700" dirty="0"/>
          </a:p>
          <a:p>
            <a:pPr lvl="1">
              <a:buFont typeface="Wingdings" pitchFamily="2" charset="2"/>
              <a:buChar char="v"/>
            </a:pPr>
            <a:r>
              <a:rPr lang="en-US" sz="1700" dirty="0"/>
              <a:t>Speaker notes:</a:t>
            </a:r>
          </a:p>
          <a:p>
            <a:pPr marL="457200" lvl="1" indent="0">
              <a:buNone/>
            </a:pPr>
            <a:r>
              <a:rPr lang="en-US" sz="1700" dirty="0"/>
              <a:t>This turns a continuous hospital outcome into an easier multiclass classification problem.</a:t>
            </a:r>
          </a:p>
          <a:p>
            <a:pPr marL="457200" lvl="1" indent="0">
              <a:buNone/>
            </a:pPr>
            <a:endParaRPr lang="en-US" sz="1700" dirty="0"/>
          </a:p>
          <a:p>
            <a:pPr marL="457200" lvl="1" indent="0">
              <a:buNone/>
            </a:pPr>
            <a:endParaRPr lang="en-US" sz="3500" b="1" i="1" dirty="0">
              <a:solidFill>
                <a:srgbClr val="FFFFFF"/>
              </a:solidFill>
              <a:latin typeface="Calibri" pitchFamily="34" charset="0"/>
              <a:ea typeface="+mj-ea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507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73A0F-3D02-E9DB-F265-CFFFE80F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08E8DC-1025-4FCC-873D-DC5C2ADEF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699899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02B58-732A-ADA4-B0C0-4D85EEEC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280067"/>
            <a:ext cx="4381500" cy="717133"/>
          </a:xfrm>
        </p:spPr>
        <p:txBody>
          <a:bodyPr anchor="b">
            <a:normAutofit fontScale="90000"/>
          </a:bodyPr>
          <a:lstStyle/>
          <a:p>
            <a:r>
              <a:rPr lang="en-US" sz="4200" b="1" i="1" dirty="0">
                <a:latin typeface="Calibri" pitchFamily="34" charset="0"/>
                <a:cs typeface="Calibri" pitchFamily="34" charset="-120"/>
              </a:rPr>
              <a:t>Cohort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50881-DAAD-9678-B034-DCF1E0EA5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74" y="3045552"/>
            <a:ext cx="3205955" cy="3095445"/>
          </a:xfrm>
        </p:spPr>
        <p:txBody>
          <a:bodyPr anchor="t">
            <a:norm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500" dirty="0"/>
              <a:t>ICU patients only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500" dirty="0"/>
              <a:t>Diabetes identified with ICD-9 codes starting with 250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500" dirty="0"/>
              <a:t>Merge tables using </a:t>
            </a:r>
            <a:r>
              <a:rPr lang="en-US" sz="1500" dirty="0" err="1"/>
              <a:t>subject_id</a:t>
            </a:r>
            <a:r>
              <a:rPr lang="en-US" sz="1500" dirty="0"/>
              <a:t> and </a:t>
            </a:r>
            <a:r>
              <a:rPr lang="en-US" sz="1500" dirty="0" err="1"/>
              <a:t>hadm_id</a:t>
            </a:r>
            <a:endParaRPr lang="en-US" sz="1500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500" dirty="0"/>
              <a:t>Clean missing or unrealistic values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5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dirty="0"/>
              <a:t>Speaker notes: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500" dirty="0"/>
              <a:t>The diabetes cohort is created using diagnosis codes from MIMIC-III, then merged with ICU and admission information.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5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500" b="1" i="1" dirty="0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5" name="Picture 4" descr="A stethoscope in white background">
            <a:extLst>
              <a:ext uri="{FF2B5EF4-FFF2-40B4-BE49-F238E27FC236}">
                <a16:creationId xmlns:a16="http://schemas.microsoft.com/office/drawing/2014/main" id="{D33A11B0-AFA2-6259-D921-FD4DA122A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93" r="18786" b="-2"/>
          <a:stretch>
            <a:fillRect/>
          </a:stretch>
        </p:blipFill>
        <p:spPr>
          <a:xfrm>
            <a:off x="0" y="-11780"/>
            <a:ext cx="1968490" cy="2017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00805-EA80-ED07-4F86-BC5613CA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5" r="33337" b="3"/>
          <a:stretch>
            <a:fillRect/>
          </a:stretch>
        </p:blipFill>
        <p:spPr>
          <a:xfrm>
            <a:off x="4572000" y="-1"/>
            <a:ext cx="4236663" cy="613321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B57D9A5-B0E6-43E8-854F-D4931B715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10892" y="706072"/>
            <a:ext cx="334189" cy="5445849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443840-A796-4C43-8DC1-1B738EFE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6320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8CC735-2AF7-78BA-CE63-DCE581709D88}"/>
              </a:ext>
            </a:extLst>
          </p:cNvPr>
          <p:cNvSpPr txBox="1"/>
          <p:nvPr/>
        </p:nvSpPr>
        <p:spPr>
          <a:xfrm>
            <a:off x="4995512" y="45623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7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1F64A-6D83-68FC-C2AD-214DD3D5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272AE-6DA7-5397-F976-CE259A69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6" y="502400"/>
            <a:ext cx="2525379" cy="1818064"/>
          </a:xfrm>
        </p:spPr>
        <p:txBody>
          <a:bodyPr>
            <a:normAutofit/>
          </a:bodyPr>
          <a:lstStyle/>
          <a:p>
            <a:r>
              <a:rPr lang="en-US" sz="2400"/>
              <a:t>Feature Engineering</a:t>
            </a:r>
            <a:endParaRPr lang="en-US" sz="2400" b="1" i="1"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DE0CA-7881-E327-D238-848E53428B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05" b="3719"/>
          <a:stretch>
            <a:fillRect/>
          </a:stretch>
        </p:blipFill>
        <p:spPr>
          <a:xfrm>
            <a:off x="3416427" y="6"/>
            <a:ext cx="5727572" cy="27627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stethoscope in white background">
            <a:extLst>
              <a:ext uri="{FF2B5EF4-FFF2-40B4-BE49-F238E27FC236}">
                <a16:creationId xmlns:a16="http://schemas.microsoft.com/office/drawing/2014/main" id="{A8585902-AB64-3416-D489-F57566921C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103" r="5195" b="-2"/>
          <a:stretch>
            <a:fillRect/>
          </a:stretch>
        </p:blipFill>
        <p:spPr>
          <a:xfrm>
            <a:off x="20" y="2826737"/>
            <a:ext cx="3424313" cy="40312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32B0-BF04-2312-C5C2-777B0E2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434" y="2985008"/>
            <a:ext cx="5476366" cy="3542792"/>
          </a:xfrm>
        </p:spPr>
        <p:txBody>
          <a:bodyPr anchor="ctr">
            <a:norm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1300" dirty="0"/>
              <a:t>Age at ICU admission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900" dirty="0"/>
              <a:t>Gender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900" dirty="0"/>
              <a:t>Admission type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900" dirty="0"/>
              <a:t>Insurance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900" dirty="0"/>
              <a:t>Ethnicity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900" dirty="0"/>
              <a:t>Number of diagnoses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300" dirty="0"/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1300" dirty="0"/>
              <a:t>Speaker notes: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300" dirty="0"/>
              <a:t>These features are simple, interpretable, and easy to teach in a tutorial.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3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300" b="1" i="1" dirty="0">
              <a:latin typeface="Calibri" pitchFamily="34" charset="0"/>
              <a:ea typeface="+mj-ea"/>
              <a:cs typeface="Calibri" pitchFamily="34" charset="-12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429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66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B8108-F956-843E-16FA-96FC30C0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02D3-9DCB-98E7-7EAE-940F0038C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3380" y="1041401"/>
            <a:ext cx="2974680" cy="673100"/>
          </a:xfrm>
        </p:spPr>
        <p:txBody>
          <a:bodyPr anchor="b">
            <a:normAutofit/>
          </a:bodyPr>
          <a:lstStyle/>
          <a:p>
            <a:r>
              <a:rPr lang="en-US" sz="2800" dirty="0"/>
              <a:t>Target Variable</a:t>
            </a:r>
            <a:endParaRPr lang="en-US" sz="2800" b="1" i="1" dirty="0"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2F48-F3CE-F3BD-CF3A-F2E42DB07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05076"/>
            <a:ext cx="4572000" cy="1809924"/>
          </a:xfrm>
        </p:spPr>
        <p:txBody>
          <a:bodyPr anchor="t">
            <a:normAutofit lnSpcReduction="10000"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700" dirty="0"/>
              <a:t>Short stay: &lt; 2 days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700" dirty="0"/>
              <a:t>Medium stay: 2 to 7 days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700" dirty="0"/>
              <a:t>Long stay: &gt; 7 days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700" dirty="0"/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1700" dirty="0"/>
              <a:t>Speaker notes: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700" dirty="0"/>
              <a:t>This creates the final multiclass label for model training.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7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700" b="1" i="1" dirty="0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5" name="Picture 4" descr="A stethoscope in white background">
            <a:extLst>
              <a:ext uri="{FF2B5EF4-FFF2-40B4-BE49-F238E27FC236}">
                <a16:creationId xmlns:a16="http://schemas.microsoft.com/office/drawing/2014/main" id="{CB47156C-70CA-2ACC-8B65-C7213A6C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72" r="15370" b="2"/>
          <a:stretch>
            <a:fillRect/>
          </a:stretch>
        </p:blipFill>
        <p:spPr>
          <a:xfrm>
            <a:off x="2517630" y="254000"/>
            <a:ext cx="2648239" cy="2899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712EF-8BBB-9BF7-7D20-89C990F706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3" r="22859" b="-3"/>
          <a:stretch>
            <a:fillRect/>
          </a:stretch>
        </p:blipFill>
        <p:spPr>
          <a:xfrm>
            <a:off x="5165869" y="254000"/>
            <a:ext cx="3978131" cy="66039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68E5CCC-C8B4-1C26-7EEC-22D3D6E6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715136" y="3163730"/>
            <a:ext cx="123362" cy="512487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4F2E6-C9E1-359F-FAB8-8E3432107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688967" y="5137561"/>
            <a:ext cx="123362" cy="1177214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61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46298-3485-8E1C-BBE2-E410CD0C9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FB5468C-305B-445A-A53B-93DB58336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D17D9-EA96-39EF-6199-41B3FD08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61" y="436360"/>
            <a:ext cx="2553277" cy="2244634"/>
          </a:xfrm>
        </p:spPr>
        <p:txBody>
          <a:bodyPr>
            <a:normAutofit/>
          </a:bodyPr>
          <a:lstStyle/>
          <a:p>
            <a:r>
              <a:rPr lang="en-US" sz="2400"/>
              <a:t>Machine Learning Pipeline</a:t>
            </a:r>
            <a:endParaRPr lang="en-US" sz="2400" b="1" i="1"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B34E6-735B-9274-3804-4BC8F100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554" b="-4"/>
          <a:stretch>
            <a:fillRect/>
          </a:stretch>
        </p:blipFill>
        <p:spPr>
          <a:xfrm>
            <a:off x="20" y="3184849"/>
            <a:ext cx="3238097" cy="367315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2CDF4EC-7B47-436E-927B-57540425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52841"/>
            <a:ext cx="3238117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273D9E-5BEA-459A-918F-AF5ACA25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6688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8D7AB-F566-626A-A0BF-35906D89C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1458" y="397565"/>
            <a:ext cx="3233072" cy="5715383"/>
          </a:xfrm>
        </p:spPr>
        <p:txBody>
          <a:bodyPr anchor="ctr">
            <a:norm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sz="1700" dirty="0"/>
              <a:t>Train/test split Imputation</a:t>
            </a:r>
          </a:p>
          <a:p>
            <a:pPr lvl="1">
              <a:buFont typeface="Wingdings" pitchFamily="2" charset="2"/>
              <a:buChar char="Ø"/>
            </a:pPr>
            <a:r>
              <a:rPr lang="en-US" sz="1700" dirty="0"/>
              <a:t>One-hot encoding</a:t>
            </a:r>
          </a:p>
          <a:p>
            <a:pPr lvl="1">
              <a:buFont typeface="Wingdings" pitchFamily="2" charset="2"/>
              <a:buChar char="Ø"/>
            </a:pPr>
            <a:r>
              <a:rPr lang="en-US" sz="1700" dirty="0"/>
              <a:t>Scaling</a:t>
            </a:r>
          </a:p>
          <a:p>
            <a:pPr lvl="1">
              <a:buFont typeface="Wingdings" pitchFamily="2" charset="2"/>
              <a:buChar char="Ø"/>
            </a:pPr>
            <a:r>
              <a:rPr lang="en-US" sz="1700" dirty="0"/>
              <a:t>Logistic Regression</a:t>
            </a:r>
          </a:p>
          <a:p>
            <a:pPr lvl="1">
              <a:buFont typeface="Wingdings" pitchFamily="2" charset="2"/>
              <a:buChar char="Ø"/>
            </a:pPr>
            <a:r>
              <a:rPr lang="en-US" sz="1700" dirty="0"/>
              <a:t>Random Forest</a:t>
            </a:r>
          </a:p>
          <a:p>
            <a:pPr marL="457200" lvl="1" indent="0">
              <a:buNone/>
            </a:pPr>
            <a:endParaRPr lang="en-US" sz="1700" dirty="0"/>
          </a:p>
          <a:p>
            <a:pPr lvl="1">
              <a:buFont typeface="Wingdings" pitchFamily="2" charset="2"/>
              <a:buChar char="v"/>
            </a:pPr>
            <a:r>
              <a:rPr lang="en-US" sz="1700" dirty="0"/>
              <a:t>Speaker notes:</a:t>
            </a:r>
          </a:p>
          <a:p>
            <a:pPr marL="457200" lvl="1" indent="0">
              <a:buNone/>
            </a:pPr>
            <a:r>
              <a:rPr lang="en-US" sz="1700" dirty="0"/>
              <a:t>Logistic Regression acts as the baseline. Random Forest captures more complex patterns.</a:t>
            </a:r>
          </a:p>
          <a:p>
            <a:pPr marL="457200" lvl="1" indent="0">
              <a:buNone/>
            </a:pPr>
            <a:endParaRPr lang="en-US" sz="1700" dirty="0"/>
          </a:p>
          <a:p>
            <a:pPr marL="457200" lvl="1" indent="0">
              <a:buNone/>
            </a:pPr>
            <a:endParaRPr lang="en-US" sz="1700" b="1" i="1" dirty="0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5" name="Picture 4" descr="A stethoscope in white background">
            <a:extLst>
              <a:ext uri="{FF2B5EF4-FFF2-40B4-BE49-F238E27FC236}">
                <a16:creationId xmlns:a16="http://schemas.microsoft.com/office/drawing/2014/main" id="{DA0D1A30-37FC-2ABE-8C95-D46AB258A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01" r="21195" b="-2"/>
          <a:stretch>
            <a:fillRect/>
          </a:stretch>
        </p:blipFill>
        <p:spPr>
          <a:xfrm>
            <a:off x="6605878" y="-6"/>
            <a:ext cx="2538122" cy="685800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FA5EF5-56B1-49EE-B0BB-69B6399FA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7540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7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9F308-2AA2-3F93-798A-D0F4064E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895E-5165-F8B1-7759-A0AEF9EF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Evaluation-Baseline model: Logistic Regression</a:t>
            </a:r>
            <a:br>
              <a:rPr lang="en-US" sz="2400"/>
            </a:br>
            <a:endParaRPr lang="en-US" sz="2400" b="1" i="1"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A55D7-9EE6-ACAF-510F-A98F11700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sz="1600"/>
              <a:t>Accuracy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/>
              <a:t>Precision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/>
              <a:t>Recall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/>
              <a:t>F1-score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/>
              <a:t>Confusion matrix</a:t>
            </a:r>
          </a:p>
          <a:p>
            <a:pPr marL="457200" lvl="1" indent="0">
              <a:buNone/>
            </a:pPr>
            <a:endParaRPr lang="en-US" sz="1600"/>
          </a:p>
          <a:p>
            <a:pPr lvl="1">
              <a:buFont typeface="Wingdings" pitchFamily="2" charset="2"/>
              <a:buChar char="v"/>
            </a:pPr>
            <a:r>
              <a:rPr lang="en-US" sz="1600"/>
              <a:t>Speaker notes:</a:t>
            </a:r>
          </a:p>
          <a:p>
            <a:pPr marL="457200" lvl="1" indent="0">
              <a:buNone/>
            </a:pPr>
            <a:r>
              <a:rPr lang="en-US" sz="1600"/>
              <a:t>Using multiple metrics is important, especially when one LOS class may be more common than another.</a:t>
            </a:r>
          </a:p>
          <a:p>
            <a:pPr marL="457200" lvl="1" indent="0">
              <a:buNone/>
            </a:pPr>
            <a:endParaRPr lang="en-US" sz="1600"/>
          </a:p>
          <a:p>
            <a:pPr marL="457200" lvl="1" indent="0">
              <a:buNone/>
            </a:pPr>
            <a:endParaRPr lang="en-US" sz="1600" b="1" i="1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76720-DFDE-E1C7-4AFE-5A9166D73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850" b="1"/>
          <a:stretch>
            <a:fillRect/>
          </a:stretch>
        </p:blipFill>
        <p:spPr>
          <a:xfrm>
            <a:off x="3815044" y="10"/>
            <a:ext cx="5328955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51478" y="0"/>
            <a:ext cx="92522" cy="6858000"/>
            <a:chOff x="12068638" y="0"/>
            <a:chExt cx="123362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735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896B9-AC40-7480-8F5D-675C9F18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709E-7A76-9600-F3D4-4A42327C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Evaluation Tree-based model: Random Forest</a:t>
            </a:r>
            <a:br>
              <a:rPr lang="en-US" sz="2600"/>
            </a:br>
            <a:endParaRPr lang="en-US" sz="2600" b="1" i="1"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16DF-744C-28DD-930B-D75D6F55B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pPr marL="457200" lvl="1" indent="0">
              <a:buNone/>
            </a:pPr>
            <a:r>
              <a:rPr lang="en-US" sz="1600"/>
              <a:t>Accuracy</a:t>
            </a:r>
          </a:p>
          <a:p>
            <a:pPr marL="457200" lvl="1" indent="0">
              <a:buNone/>
            </a:pPr>
            <a:r>
              <a:rPr lang="en-US" sz="1600"/>
              <a:t>Precision</a:t>
            </a:r>
          </a:p>
          <a:p>
            <a:pPr marL="457200" lvl="1" indent="0">
              <a:buNone/>
            </a:pPr>
            <a:r>
              <a:rPr lang="en-US" sz="1600"/>
              <a:t>Recall</a:t>
            </a:r>
          </a:p>
          <a:p>
            <a:pPr marL="457200" lvl="1" indent="0">
              <a:buNone/>
            </a:pPr>
            <a:r>
              <a:rPr lang="en-US" sz="1600"/>
              <a:t>F1-score</a:t>
            </a:r>
          </a:p>
          <a:p>
            <a:pPr marL="457200" lvl="1" indent="0">
              <a:buNone/>
            </a:pPr>
            <a:r>
              <a:rPr lang="en-US" sz="1600"/>
              <a:t>Confusion matrix</a:t>
            </a:r>
          </a:p>
          <a:p>
            <a:pPr marL="457200" lvl="1" indent="0">
              <a:buNone/>
            </a:pPr>
            <a:endParaRPr lang="en-US" sz="1600"/>
          </a:p>
          <a:p>
            <a:pPr marL="457200" lvl="1" indent="0">
              <a:buNone/>
            </a:pPr>
            <a:r>
              <a:rPr lang="en-US" sz="1600"/>
              <a:t>Speaker notes:</a:t>
            </a:r>
          </a:p>
          <a:p>
            <a:pPr marL="457200" lvl="1" indent="0">
              <a:buNone/>
            </a:pPr>
            <a:r>
              <a:rPr lang="en-US" sz="1600"/>
              <a:t>Using multiple metrics is important, especially when one LOS class may be more common than another.</a:t>
            </a:r>
          </a:p>
          <a:p>
            <a:pPr marL="457200" lvl="1" indent="0">
              <a:buNone/>
            </a:pPr>
            <a:endParaRPr lang="en-US" sz="1600"/>
          </a:p>
          <a:p>
            <a:pPr marL="457200" lvl="1" indent="0">
              <a:buNone/>
            </a:pPr>
            <a:endParaRPr lang="en-US" sz="1600" b="1" i="1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E7BC7-7580-8ACF-E2FE-08A06B4B56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70" b="1"/>
          <a:stretch>
            <a:fillRect/>
          </a:stretch>
        </p:blipFill>
        <p:spPr>
          <a:xfrm>
            <a:off x="3815044" y="10"/>
            <a:ext cx="5328955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51478" y="0"/>
            <a:ext cx="9252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6111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F748A-4F9C-9AE2-217B-45ABC526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9113-FF05-1EF3-51B2-D8E3F3BF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en-US" sz="2600"/>
              <a:t>Confusion matrix</a:t>
            </a:r>
            <a:br>
              <a:rPr lang="en-US" sz="2600"/>
            </a:br>
            <a:br>
              <a:rPr lang="en-US" sz="2600" dirty="0"/>
            </a:br>
            <a:endParaRPr lang="en-US" sz="2600" b="1" i="1"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AF8A-03EB-54D6-EF8F-5057433D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700"/>
              <a:t>A confusion matrix helps show:</a:t>
            </a:r>
          </a:p>
          <a:p>
            <a:pPr>
              <a:buFont typeface="Wingdings" pitchFamily="2" charset="2"/>
              <a:buChar char="Ø"/>
            </a:pPr>
            <a:r>
              <a:rPr lang="en-US" sz="1700"/>
              <a:t>which classes are predicted correctly,</a:t>
            </a:r>
          </a:p>
          <a:p>
            <a:pPr>
              <a:buFont typeface="Wingdings" pitchFamily="2" charset="2"/>
              <a:buChar char="Ø"/>
            </a:pPr>
            <a:r>
              <a:rPr lang="en-US" sz="1700"/>
              <a:t>which categories are mixed up,</a:t>
            </a:r>
          </a:p>
          <a:p>
            <a:pPr>
              <a:buFont typeface="Wingdings" pitchFamily="2" charset="2"/>
              <a:buChar char="Ø"/>
            </a:pPr>
            <a:r>
              <a:rPr lang="en-US" sz="1700"/>
              <a:t>whether the model struggles more with medium vs long stays.</a:t>
            </a:r>
          </a:p>
          <a:p>
            <a:pPr marL="457200" lvl="1" indent="0">
              <a:buNone/>
            </a:pPr>
            <a:endParaRPr lang="en-US" sz="1700"/>
          </a:p>
          <a:p>
            <a:pPr marL="457200" lvl="1" indent="0">
              <a:buNone/>
            </a:pPr>
            <a:endParaRPr lang="en-US" sz="1700" b="1" i="1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24F1B-6C47-B3D7-3352-E1EEDF818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36" b="-1"/>
          <a:stretch>
            <a:fillRect/>
          </a:stretch>
        </p:blipFill>
        <p:spPr>
          <a:xfrm>
            <a:off x="3815044" y="10"/>
            <a:ext cx="5328955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8795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6E510-D399-F34F-65C5-59DC5C39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F74C7-6E37-CDAF-A13D-4E23C6A70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366" y="525195"/>
            <a:ext cx="2989616" cy="2806506"/>
          </a:xfrm>
        </p:spPr>
        <p:txBody>
          <a:bodyPr anchor="b">
            <a:normAutofit/>
          </a:bodyPr>
          <a:lstStyle/>
          <a:p>
            <a:r>
              <a:rPr lang="en-US" sz="3500"/>
              <a:t>Results and Interpretation</a:t>
            </a:r>
            <a:endParaRPr lang="en-US" sz="3500" b="1" i="1" dirty="0"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0E0EB-607D-3FAD-76AA-3165D9298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32" b="3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4E49-8E6F-960A-BD1A-4C1FB1F4F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526300"/>
            <a:ext cx="3889915" cy="2588458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400" dirty="0"/>
              <a:t>Compare models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400" dirty="0"/>
              <a:t>Choose best-performing model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400" dirty="0"/>
              <a:t>Discuss useful predictors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400" dirty="0"/>
              <a:t>Structured EHR data can support prediction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/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1400" dirty="0"/>
              <a:t>Speaker notes: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/>
              <a:t>Interpret the stronger model and explain that richer clinical features could improve future performance.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400" b="1" i="1" dirty="0">
              <a:latin typeface="Calibri" pitchFamily="34" charset="0"/>
              <a:ea typeface="+mj-ea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2CB9A-624E-C01C-5003-CF4E7E70F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85" b="-3"/>
          <a:stretch>
            <a:fillRect/>
          </a:stretch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8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E0A6-AB61-9404-829D-F2452041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ethoscope in white background">
            <a:extLst>
              <a:ext uri="{FF2B5EF4-FFF2-40B4-BE49-F238E27FC236}">
                <a16:creationId xmlns:a16="http://schemas.microsoft.com/office/drawing/2014/main" id="{B67C5693-961E-E091-C948-6D0F1A600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57" r="1384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E7652B-EAAE-A0F8-AECC-80E7491D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 fontScale="90000"/>
          </a:bodyPr>
          <a:lstStyle/>
          <a:p>
            <a:r>
              <a:rPr lang="en-US" sz="3600"/>
              <a:t>Limitations and Replication</a:t>
            </a:r>
            <a:br>
              <a:rPr lang="en-US" sz="3600"/>
            </a:br>
            <a:endParaRPr lang="en-US" sz="3500" b="1" i="1" dirty="0">
              <a:latin typeface="Calibri" pitchFamily="34" charset="0"/>
              <a:cs typeface="Calibri" pitchFamily="34" charset="-12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D524237-C91D-AF8D-A7CB-72A0CF947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1982316"/>
              </p:ext>
            </p:extLst>
          </p:nvPr>
        </p:nvGraphicFramePr>
        <p:xfrm>
          <a:off x="4211393" y="1429555"/>
          <a:ext cx="4790940" cy="4810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340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</TotalTime>
  <Words>582</Words>
  <Application>Microsoft Macintosh PowerPoint</Application>
  <PresentationFormat>On-screen Show (4:3)</PresentationFormat>
  <Paragraphs>121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Helvetica Neue Medium</vt:lpstr>
      <vt:lpstr>Wingdings</vt:lpstr>
      <vt:lpstr>Office Theme</vt:lpstr>
      <vt:lpstr>Predicting ICU Length of Stay in Diabetic Patients Using MIMIC-III and Machine Learning</vt:lpstr>
      <vt:lpstr>Tutorial Objective</vt:lpstr>
      <vt:lpstr>Diabetes Topic Matters</vt:lpstr>
      <vt:lpstr>Project Objective</vt:lpstr>
      <vt:lpstr>Research Question</vt:lpstr>
      <vt:lpstr>Cohort Selection</vt:lpstr>
      <vt:lpstr>Feature Engineering</vt:lpstr>
      <vt:lpstr>Target Variable</vt:lpstr>
      <vt:lpstr>Machine Learning Pipeline</vt:lpstr>
      <vt:lpstr>Evaluation-Baseline model: Logistic Regression </vt:lpstr>
      <vt:lpstr>Evaluation Tree-based model: Random Forest </vt:lpstr>
      <vt:lpstr>Confusion matrix  </vt:lpstr>
      <vt:lpstr>Results and Interpretation</vt:lpstr>
      <vt:lpstr>Limitations and Replication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Raman</cp:lastModifiedBy>
  <cp:revision>82</cp:revision>
  <dcterms:created xsi:type="dcterms:W3CDTF">2013-01-27T09:14:16Z</dcterms:created>
  <dcterms:modified xsi:type="dcterms:W3CDTF">2026-03-13T21:26:24Z</dcterms:modified>
  <cp:category/>
</cp:coreProperties>
</file>