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6"/>
  </p:notesMasterIdLst>
  <p:sldIdLst>
    <p:sldId id="256" r:id="rId2"/>
    <p:sldId id="277" r:id="rId3"/>
    <p:sldId id="257" r:id="rId4"/>
    <p:sldId id="278" r:id="rId5"/>
    <p:sldId id="279" r:id="rId6"/>
    <p:sldId id="281" r:id="rId7"/>
    <p:sldId id="282" r:id="rId8"/>
    <p:sldId id="283" r:id="rId9"/>
    <p:sldId id="284" r:id="rId10"/>
    <p:sldId id="285" r:id="rId11"/>
    <p:sldId id="288" r:id="rId12"/>
    <p:sldId id="289" r:id="rId13"/>
    <p:sldId id="286" r:id="rId14"/>
    <p:sldId id="287" r:id="rId15"/>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31348"/>
    <p:restoredTop sz="94684"/>
  </p:normalViewPr>
  <p:slideViewPr>
    <p:cSldViewPr snapToGrid="0" snapToObjects="1">
      <p:cViewPr varScale="1">
        <p:scale>
          <a:sx n="114" d="100"/>
          <a:sy n="114" d="100"/>
        </p:scale>
        <p:origin x="576" y="464"/>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notesMaster" Target="notesMasters/notesMaster1.xml"/><Relationship Id="rId20"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diagrams/colors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FAAD0627-AEC8-452E-ACD4-4AC25F698FFD}" type="doc">
      <dgm:prSet loTypeId="urn:microsoft.com/office/officeart/2005/8/layout/default" loCatId="list" qsTypeId="urn:microsoft.com/office/officeart/2005/8/quickstyle/simple1" qsCatId="simple" csTypeId="urn:microsoft.com/office/officeart/2005/8/colors/accent1_2" csCatId="accent1" phldr="1"/>
      <dgm:spPr/>
      <dgm:t>
        <a:bodyPr/>
        <a:lstStyle/>
        <a:p>
          <a:endParaRPr lang="en-US"/>
        </a:p>
      </dgm:t>
    </dgm:pt>
    <dgm:pt modelId="{1F2EA9CB-399A-44EB-8E6F-1868ACA15891}">
      <dgm:prSet/>
      <dgm:spPr/>
      <dgm:t>
        <a:bodyPr/>
        <a:lstStyle/>
        <a:p>
          <a:r>
            <a:rPr lang="en-US" dirty="0"/>
            <a:t> Single dataset</a:t>
          </a:r>
        </a:p>
      </dgm:t>
    </dgm:pt>
    <dgm:pt modelId="{5C83EAAF-D061-4511-B5C8-6DF26843CBA9}" type="parTrans" cxnId="{26DFA410-08C3-4633-B341-08D9ECC9DA2F}">
      <dgm:prSet/>
      <dgm:spPr/>
      <dgm:t>
        <a:bodyPr/>
        <a:lstStyle/>
        <a:p>
          <a:endParaRPr lang="en-US"/>
        </a:p>
      </dgm:t>
    </dgm:pt>
    <dgm:pt modelId="{4A794126-4771-4111-ACBD-A78684FFF437}" type="sibTrans" cxnId="{26DFA410-08C3-4633-B341-08D9ECC9DA2F}">
      <dgm:prSet/>
      <dgm:spPr/>
      <dgm:t>
        <a:bodyPr/>
        <a:lstStyle/>
        <a:p>
          <a:endParaRPr lang="en-US"/>
        </a:p>
      </dgm:t>
    </dgm:pt>
    <dgm:pt modelId="{B13E3C94-95C6-41A9-8BD4-B9400395086E}">
      <dgm:prSet/>
      <dgm:spPr/>
      <dgm:t>
        <a:bodyPr/>
        <a:lstStyle/>
        <a:p>
          <a:r>
            <a:rPr lang="en-US" dirty="0"/>
            <a:t> Diabetes defined by diagnosis codes</a:t>
          </a:r>
        </a:p>
      </dgm:t>
    </dgm:pt>
    <dgm:pt modelId="{3B5BBF0D-6FEA-456B-93A6-58E5CE287CFE}" type="parTrans" cxnId="{918CE8CD-2FCF-4069-9250-3509182350BA}">
      <dgm:prSet/>
      <dgm:spPr/>
      <dgm:t>
        <a:bodyPr/>
        <a:lstStyle/>
        <a:p>
          <a:endParaRPr lang="en-US"/>
        </a:p>
      </dgm:t>
    </dgm:pt>
    <dgm:pt modelId="{4D402860-9C98-431D-87AC-F3EC7756EFF4}" type="sibTrans" cxnId="{918CE8CD-2FCF-4069-9250-3509182350BA}">
      <dgm:prSet/>
      <dgm:spPr/>
      <dgm:t>
        <a:bodyPr/>
        <a:lstStyle/>
        <a:p>
          <a:endParaRPr lang="en-US"/>
        </a:p>
      </dgm:t>
    </dgm:pt>
    <dgm:pt modelId="{D3F7FD14-7DA7-48C2-BFAA-8AACD98BD748}">
      <dgm:prSet/>
      <dgm:spPr/>
      <dgm:t>
        <a:bodyPr/>
        <a:lstStyle/>
        <a:p>
          <a:r>
            <a:rPr lang="en-US" dirty="0"/>
            <a:t> Simple feature set</a:t>
          </a:r>
        </a:p>
      </dgm:t>
    </dgm:pt>
    <dgm:pt modelId="{A1055B12-C653-4FF2-B08D-F329498D9791}" type="parTrans" cxnId="{4E2CC937-4F24-4283-A8F4-159EF56F9BD3}">
      <dgm:prSet/>
      <dgm:spPr/>
      <dgm:t>
        <a:bodyPr/>
        <a:lstStyle/>
        <a:p>
          <a:endParaRPr lang="en-US"/>
        </a:p>
      </dgm:t>
    </dgm:pt>
    <dgm:pt modelId="{AF33D169-76E5-455E-9C62-A8F30810C8B3}" type="sibTrans" cxnId="{4E2CC937-4F24-4283-A8F4-159EF56F9BD3}">
      <dgm:prSet/>
      <dgm:spPr/>
      <dgm:t>
        <a:bodyPr/>
        <a:lstStyle/>
        <a:p>
          <a:endParaRPr lang="en-US"/>
        </a:p>
      </dgm:t>
    </dgm:pt>
    <dgm:pt modelId="{D0F41813-A34F-491B-8E12-4F1915E09B0A}">
      <dgm:prSet/>
      <dgm:spPr/>
      <dgm:t>
        <a:bodyPr/>
        <a:lstStyle/>
        <a:p>
          <a:r>
            <a:rPr lang="en-US" dirty="0"/>
            <a:t> Educational use only</a:t>
          </a:r>
        </a:p>
      </dgm:t>
    </dgm:pt>
    <dgm:pt modelId="{92F7C868-DC44-4D3D-A092-017F4D6D002E}" type="parTrans" cxnId="{1E904F29-514A-4545-953C-FDD4493D100E}">
      <dgm:prSet/>
      <dgm:spPr/>
      <dgm:t>
        <a:bodyPr/>
        <a:lstStyle/>
        <a:p>
          <a:endParaRPr lang="en-US"/>
        </a:p>
      </dgm:t>
    </dgm:pt>
    <dgm:pt modelId="{FF749CB2-EDC8-4ABE-A235-580563225B1F}" type="sibTrans" cxnId="{1E904F29-514A-4545-953C-FDD4493D100E}">
      <dgm:prSet/>
      <dgm:spPr/>
      <dgm:t>
        <a:bodyPr/>
        <a:lstStyle/>
        <a:p>
          <a:endParaRPr lang="en-US"/>
        </a:p>
      </dgm:t>
    </dgm:pt>
    <dgm:pt modelId="{24DDCC8B-89C5-46BF-8F52-FB67F01668D1}">
      <dgm:prSet/>
      <dgm:spPr/>
      <dgm:t>
        <a:bodyPr/>
        <a:lstStyle/>
        <a:p>
          <a:r>
            <a:rPr lang="en-US" dirty="0"/>
            <a:t>Replication:</a:t>
          </a:r>
        </a:p>
      </dgm:t>
    </dgm:pt>
    <dgm:pt modelId="{6DC33518-7EC5-4F18-9EF7-43F817AFB738}" type="parTrans" cxnId="{9D18DA7D-24DE-4723-837A-2A3BCA8C5D3C}">
      <dgm:prSet/>
      <dgm:spPr/>
      <dgm:t>
        <a:bodyPr/>
        <a:lstStyle/>
        <a:p>
          <a:endParaRPr lang="en-US"/>
        </a:p>
      </dgm:t>
    </dgm:pt>
    <dgm:pt modelId="{0351C228-0B07-4791-A60C-7A8B5A7FFC8A}" type="sibTrans" cxnId="{9D18DA7D-24DE-4723-837A-2A3BCA8C5D3C}">
      <dgm:prSet/>
      <dgm:spPr/>
      <dgm:t>
        <a:bodyPr/>
        <a:lstStyle/>
        <a:p>
          <a:endParaRPr lang="en-US"/>
        </a:p>
      </dgm:t>
    </dgm:pt>
    <dgm:pt modelId="{8560CF3B-E13B-4A44-A13F-A85D55C72E65}">
      <dgm:prSet/>
      <dgm:spPr/>
      <dgm:t>
        <a:bodyPr/>
        <a:lstStyle/>
        <a:p>
          <a:r>
            <a:rPr lang="en-US" dirty="0"/>
            <a:t> Load cohort file</a:t>
          </a:r>
        </a:p>
      </dgm:t>
    </dgm:pt>
    <dgm:pt modelId="{7AE9D5F6-64B3-456A-A120-EADC66952023}" type="parTrans" cxnId="{1836502E-09B1-4004-97F7-C00DEA8EB4C4}">
      <dgm:prSet/>
      <dgm:spPr/>
      <dgm:t>
        <a:bodyPr/>
        <a:lstStyle/>
        <a:p>
          <a:endParaRPr lang="en-US"/>
        </a:p>
      </dgm:t>
    </dgm:pt>
    <dgm:pt modelId="{D1C1E419-C3A7-427C-95BD-828E65435A11}" type="sibTrans" cxnId="{1836502E-09B1-4004-97F7-C00DEA8EB4C4}">
      <dgm:prSet/>
      <dgm:spPr/>
      <dgm:t>
        <a:bodyPr/>
        <a:lstStyle/>
        <a:p>
          <a:endParaRPr lang="en-US"/>
        </a:p>
      </dgm:t>
    </dgm:pt>
    <dgm:pt modelId="{76FFEC7F-CF62-4CCB-883E-6F6FCA6A64B0}">
      <dgm:prSet/>
      <dgm:spPr/>
      <dgm:t>
        <a:bodyPr/>
        <a:lstStyle/>
        <a:p>
          <a:r>
            <a:rPr lang="en-US" dirty="0"/>
            <a:t> Run notebook in order</a:t>
          </a:r>
        </a:p>
      </dgm:t>
    </dgm:pt>
    <dgm:pt modelId="{1593485A-A6E2-4B44-A863-A186F7F857F5}" type="parTrans" cxnId="{DCC0A38F-73DD-4E37-A6CE-85DBD6400E82}">
      <dgm:prSet/>
      <dgm:spPr/>
      <dgm:t>
        <a:bodyPr/>
        <a:lstStyle/>
        <a:p>
          <a:endParaRPr lang="en-US"/>
        </a:p>
      </dgm:t>
    </dgm:pt>
    <dgm:pt modelId="{AB258805-BF24-49E0-9EF5-72E1BA5874DD}" type="sibTrans" cxnId="{DCC0A38F-73DD-4E37-A6CE-85DBD6400E82}">
      <dgm:prSet/>
      <dgm:spPr/>
      <dgm:t>
        <a:bodyPr/>
        <a:lstStyle/>
        <a:p>
          <a:endParaRPr lang="en-US"/>
        </a:p>
      </dgm:t>
    </dgm:pt>
    <dgm:pt modelId="{16678B6D-CE21-42FF-A256-DBD5C39088E6}">
      <dgm:prSet/>
      <dgm:spPr/>
      <dgm:t>
        <a:bodyPr/>
        <a:lstStyle/>
        <a:p>
          <a:r>
            <a:rPr lang="en-US" dirty="0"/>
            <a:t> Reproduce charts and metrics</a:t>
          </a:r>
        </a:p>
      </dgm:t>
    </dgm:pt>
    <dgm:pt modelId="{6B5A4138-354A-40FF-A210-8069DE494F93}" type="parTrans" cxnId="{AA59354C-E052-4B19-90BE-61FD843C080E}">
      <dgm:prSet/>
      <dgm:spPr/>
      <dgm:t>
        <a:bodyPr/>
        <a:lstStyle/>
        <a:p>
          <a:endParaRPr lang="en-US"/>
        </a:p>
      </dgm:t>
    </dgm:pt>
    <dgm:pt modelId="{539B2F60-5EB1-46B0-98A4-1D5555B032E8}" type="sibTrans" cxnId="{AA59354C-E052-4B19-90BE-61FD843C080E}">
      <dgm:prSet/>
      <dgm:spPr/>
      <dgm:t>
        <a:bodyPr/>
        <a:lstStyle/>
        <a:p>
          <a:endParaRPr lang="en-US"/>
        </a:p>
      </dgm:t>
    </dgm:pt>
    <dgm:pt modelId="{FE6FC1C6-AE61-4999-90AC-26B7DF02932A}">
      <dgm:prSet/>
      <dgm:spPr/>
      <dgm:t>
        <a:bodyPr/>
        <a:lstStyle/>
        <a:p>
          <a:r>
            <a:rPr lang="en-US" dirty="0"/>
            <a:t>Speaker notes:</a:t>
          </a:r>
        </a:p>
      </dgm:t>
    </dgm:pt>
    <dgm:pt modelId="{745D7616-4BA5-4C03-823D-FFF25244EDFA}" type="parTrans" cxnId="{CF910C8A-5AB5-4CB2-A09D-4B6D1A1F86AD}">
      <dgm:prSet/>
      <dgm:spPr/>
      <dgm:t>
        <a:bodyPr/>
        <a:lstStyle/>
        <a:p>
          <a:endParaRPr lang="en-US"/>
        </a:p>
      </dgm:t>
    </dgm:pt>
    <dgm:pt modelId="{D50B51DC-C93E-4C6E-8C61-1A0A264239E3}" type="sibTrans" cxnId="{CF910C8A-5AB5-4CB2-A09D-4B6D1A1F86AD}">
      <dgm:prSet/>
      <dgm:spPr/>
      <dgm:t>
        <a:bodyPr/>
        <a:lstStyle/>
        <a:p>
          <a:endParaRPr lang="en-US"/>
        </a:p>
      </dgm:t>
    </dgm:pt>
    <dgm:pt modelId="{29B38C4C-E097-471B-A232-6B11A1E19812}">
      <dgm:prSet/>
      <dgm:spPr/>
      <dgm:t>
        <a:bodyPr/>
        <a:lstStyle/>
        <a:p>
          <a:r>
            <a:rPr lang="en-US"/>
            <a:t>This project is designed for reproducibility and teaching, not clinical deployment.</a:t>
          </a:r>
        </a:p>
      </dgm:t>
    </dgm:pt>
    <dgm:pt modelId="{BAE4F3FE-BEF7-4EC8-B203-EEFA144D8A0E}" type="parTrans" cxnId="{EC6983C8-8433-490E-85CA-EFD4A4F5EFF3}">
      <dgm:prSet/>
      <dgm:spPr/>
      <dgm:t>
        <a:bodyPr/>
        <a:lstStyle/>
        <a:p>
          <a:endParaRPr lang="en-US"/>
        </a:p>
      </dgm:t>
    </dgm:pt>
    <dgm:pt modelId="{A0EE8350-A5E0-4E82-AE74-C33D95037F65}" type="sibTrans" cxnId="{EC6983C8-8433-490E-85CA-EFD4A4F5EFF3}">
      <dgm:prSet/>
      <dgm:spPr/>
      <dgm:t>
        <a:bodyPr/>
        <a:lstStyle/>
        <a:p>
          <a:endParaRPr lang="en-US"/>
        </a:p>
      </dgm:t>
    </dgm:pt>
    <dgm:pt modelId="{18D961E9-B7DA-6549-A9BF-8DB93AF59990}" type="pres">
      <dgm:prSet presAssocID="{FAAD0627-AEC8-452E-ACD4-4AC25F698FFD}" presName="diagram" presStyleCnt="0">
        <dgm:presLayoutVars>
          <dgm:dir/>
          <dgm:resizeHandles val="exact"/>
        </dgm:presLayoutVars>
      </dgm:prSet>
      <dgm:spPr/>
    </dgm:pt>
    <dgm:pt modelId="{8A8530EE-01F8-0A44-9B91-EEB99F7BC27B}" type="pres">
      <dgm:prSet presAssocID="{1F2EA9CB-399A-44EB-8E6F-1868ACA15891}" presName="node" presStyleLbl="node1" presStyleIdx="0" presStyleCnt="10">
        <dgm:presLayoutVars>
          <dgm:bulletEnabled val="1"/>
        </dgm:presLayoutVars>
      </dgm:prSet>
      <dgm:spPr/>
    </dgm:pt>
    <dgm:pt modelId="{ED35C57C-EDDF-1D4A-AE08-BAB3B6DA274A}" type="pres">
      <dgm:prSet presAssocID="{4A794126-4771-4111-ACBD-A78684FFF437}" presName="sibTrans" presStyleCnt="0"/>
      <dgm:spPr/>
    </dgm:pt>
    <dgm:pt modelId="{5A129108-391A-5548-81B4-75D4BD6CB294}" type="pres">
      <dgm:prSet presAssocID="{B13E3C94-95C6-41A9-8BD4-B9400395086E}" presName="node" presStyleLbl="node1" presStyleIdx="1" presStyleCnt="10">
        <dgm:presLayoutVars>
          <dgm:bulletEnabled val="1"/>
        </dgm:presLayoutVars>
      </dgm:prSet>
      <dgm:spPr/>
    </dgm:pt>
    <dgm:pt modelId="{DEDBD725-F3F6-624A-8EB4-BBE9B48B9370}" type="pres">
      <dgm:prSet presAssocID="{4D402860-9C98-431D-87AC-F3EC7756EFF4}" presName="sibTrans" presStyleCnt="0"/>
      <dgm:spPr/>
    </dgm:pt>
    <dgm:pt modelId="{9896BA50-2A78-714C-91C8-760D9183AB4A}" type="pres">
      <dgm:prSet presAssocID="{D3F7FD14-7DA7-48C2-BFAA-8AACD98BD748}" presName="node" presStyleLbl="node1" presStyleIdx="2" presStyleCnt="10">
        <dgm:presLayoutVars>
          <dgm:bulletEnabled val="1"/>
        </dgm:presLayoutVars>
      </dgm:prSet>
      <dgm:spPr/>
    </dgm:pt>
    <dgm:pt modelId="{4E425D5A-B116-9440-9F76-95B44A8C601E}" type="pres">
      <dgm:prSet presAssocID="{AF33D169-76E5-455E-9C62-A8F30810C8B3}" presName="sibTrans" presStyleCnt="0"/>
      <dgm:spPr/>
    </dgm:pt>
    <dgm:pt modelId="{7C42CC6B-DC82-1846-8549-8E8C45EBBC76}" type="pres">
      <dgm:prSet presAssocID="{D0F41813-A34F-491B-8E12-4F1915E09B0A}" presName="node" presStyleLbl="node1" presStyleIdx="3" presStyleCnt="10">
        <dgm:presLayoutVars>
          <dgm:bulletEnabled val="1"/>
        </dgm:presLayoutVars>
      </dgm:prSet>
      <dgm:spPr/>
    </dgm:pt>
    <dgm:pt modelId="{F1CE1738-9B32-D94C-BDF6-A9629B42349B}" type="pres">
      <dgm:prSet presAssocID="{FF749CB2-EDC8-4ABE-A235-580563225B1F}" presName="sibTrans" presStyleCnt="0"/>
      <dgm:spPr/>
    </dgm:pt>
    <dgm:pt modelId="{707DC925-0883-7D42-81D5-337492041626}" type="pres">
      <dgm:prSet presAssocID="{24DDCC8B-89C5-46BF-8F52-FB67F01668D1}" presName="node" presStyleLbl="node1" presStyleIdx="4" presStyleCnt="10">
        <dgm:presLayoutVars>
          <dgm:bulletEnabled val="1"/>
        </dgm:presLayoutVars>
      </dgm:prSet>
      <dgm:spPr/>
    </dgm:pt>
    <dgm:pt modelId="{4A1D76D4-770F-2944-9B5A-D2BAF7741338}" type="pres">
      <dgm:prSet presAssocID="{0351C228-0B07-4791-A60C-7A8B5A7FFC8A}" presName="sibTrans" presStyleCnt="0"/>
      <dgm:spPr/>
    </dgm:pt>
    <dgm:pt modelId="{39E79416-5A91-D74D-AA3E-BE6DDCDCF91E}" type="pres">
      <dgm:prSet presAssocID="{8560CF3B-E13B-4A44-A13F-A85D55C72E65}" presName="node" presStyleLbl="node1" presStyleIdx="5" presStyleCnt="10">
        <dgm:presLayoutVars>
          <dgm:bulletEnabled val="1"/>
        </dgm:presLayoutVars>
      </dgm:prSet>
      <dgm:spPr/>
    </dgm:pt>
    <dgm:pt modelId="{1543CD19-EA7C-2C4D-8755-175C28E6AAD2}" type="pres">
      <dgm:prSet presAssocID="{D1C1E419-C3A7-427C-95BD-828E65435A11}" presName="sibTrans" presStyleCnt="0"/>
      <dgm:spPr/>
    </dgm:pt>
    <dgm:pt modelId="{52035D16-E2E2-F24F-B167-8076EAF722CB}" type="pres">
      <dgm:prSet presAssocID="{76FFEC7F-CF62-4CCB-883E-6F6FCA6A64B0}" presName="node" presStyleLbl="node1" presStyleIdx="6" presStyleCnt="10">
        <dgm:presLayoutVars>
          <dgm:bulletEnabled val="1"/>
        </dgm:presLayoutVars>
      </dgm:prSet>
      <dgm:spPr/>
    </dgm:pt>
    <dgm:pt modelId="{439DB273-AC8F-354F-B02F-EF4A5CB20809}" type="pres">
      <dgm:prSet presAssocID="{AB258805-BF24-49E0-9EF5-72E1BA5874DD}" presName="sibTrans" presStyleCnt="0"/>
      <dgm:spPr/>
    </dgm:pt>
    <dgm:pt modelId="{76256357-65E2-6745-A153-62DB4334C656}" type="pres">
      <dgm:prSet presAssocID="{16678B6D-CE21-42FF-A256-DBD5C39088E6}" presName="node" presStyleLbl="node1" presStyleIdx="7" presStyleCnt="10">
        <dgm:presLayoutVars>
          <dgm:bulletEnabled val="1"/>
        </dgm:presLayoutVars>
      </dgm:prSet>
      <dgm:spPr/>
    </dgm:pt>
    <dgm:pt modelId="{3BCCB9EA-82D5-FF43-9DCC-A4850C4E3219}" type="pres">
      <dgm:prSet presAssocID="{539B2F60-5EB1-46B0-98A4-1D5555B032E8}" presName="sibTrans" presStyleCnt="0"/>
      <dgm:spPr/>
    </dgm:pt>
    <dgm:pt modelId="{F8B0A9D3-899A-7D45-816F-019B2F07CCD9}" type="pres">
      <dgm:prSet presAssocID="{FE6FC1C6-AE61-4999-90AC-26B7DF02932A}" presName="node" presStyleLbl="node1" presStyleIdx="8" presStyleCnt="10">
        <dgm:presLayoutVars>
          <dgm:bulletEnabled val="1"/>
        </dgm:presLayoutVars>
      </dgm:prSet>
      <dgm:spPr/>
    </dgm:pt>
    <dgm:pt modelId="{6F18EFFA-889C-6A4C-8EA0-B20F97A94238}" type="pres">
      <dgm:prSet presAssocID="{D50B51DC-C93E-4C6E-8C61-1A0A264239E3}" presName="sibTrans" presStyleCnt="0"/>
      <dgm:spPr/>
    </dgm:pt>
    <dgm:pt modelId="{2ECC531A-6A07-B945-B8D5-CD6159A4215E}" type="pres">
      <dgm:prSet presAssocID="{29B38C4C-E097-471B-A232-6B11A1E19812}" presName="node" presStyleLbl="node1" presStyleIdx="9" presStyleCnt="10">
        <dgm:presLayoutVars>
          <dgm:bulletEnabled val="1"/>
        </dgm:presLayoutVars>
      </dgm:prSet>
      <dgm:spPr/>
    </dgm:pt>
  </dgm:ptLst>
  <dgm:cxnLst>
    <dgm:cxn modelId="{26DFA410-08C3-4633-B341-08D9ECC9DA2F}" srcId="{FAAD0627-AEC8-452E-ACD4-4AC25F698FFD}" destId="{1F2EA9CB-399A-44EB-8E6F-1868ACA15891}" srcOrd="0" destOrd="0" parTransId="{5C83EAAF-D061-4511-B5C8-6DF26843CBA9}" sibTransId="{4A794126-4771-4111-ACBD-A78684FFF437}"/>
    <dgm:cxn modelId="{68DC2A13-F45A-9D40-AB62-E686E6BBEAD5}" type="presOf" srcId="{FE6FC1C6-AE61-4999-90AC-26B7DF02932A}" destId="{F8B0A9D3-899A-7D45-816F-019B2F07CCD9}" srcOrd="0" destOrd="0" presId="urn:microsoft.com/office/officeart/2005/8/layout/default"/>
    <dgm:cxn modelId="{21335E1F-8079-6A4F-8D47-F59B15278B32}" type="presOf" srcId="{8560CF3B-E13B-4A44-A13F-A85D55C72E65}" destId="{39E79416-5A91-D74D-AA3E-BE6DDCDCF91E}" srcOrd="0" destOrd="0" presId="urn:microsoft.com/office/officeart/2005/8/layout/default"/>
    <dgm:cxn modelId="{1E904F29-514A-4545-953C-FDD4493D100E}" srcId="{FAAD0627-AEC8-452E-ACD4-4AC25F698FFD}" destId="{D0F41813-A34F-491B-8E12-4F1915E09B0A}" srcOrd="3" destOrd="0" parTransId="{92F7C868-DC44-4D3D-A092-017F4D6D002E}" sibTransId="{FF749CB2-EDC8-4ABE-A235-580563225B1F}"/>
    <dgm:cxn modelId="{1836502E-09B1-4004-97F7-C00DEA8EB4C4}" srcId="{FAAD0627-AEC8-452E-ACD4-4AC25F698FFD}" destId="{8560CF3B-E13B-4A44-A13F-A85D55C72E65}" srcOrd="5" destOrd="0" parTransId="{7AE9D5F6-64B3-456A-A120-EADC66952023}" sibTransId="{D1C1E419-C3A7-427C-95BD-828E65435A11}"/>
    <dgm:cxn modelId="{29E9CB32-F6D9-2249-944C-172389586FB9}" type="presOf" srcId="{D0F41813-A34F-491B-8E12-4F1915E09B0A}" destId="{7C42CC6B-DC82-1846-8549-8E8C45EBBC76}" srcOrd="0" destOrd="0" presId="urn:microsoft.com/office/officeart/2005/8/layout/default"/>
    <dgm:cxn modelId="{4E2CC937-4F24-4283-A8F4-159EF56F9BD3}" srcId="{FAAD0627-AEC8-452E-ACD4-4AC25F698FFD}" destId="{D3F7FD14-7DA7-48C2-BFAA-8AACD98BD748}" srcOrd="2" destOrd="0" parTransId="{A1055B12-C653-4FF2-B08D-F329498D9791}" sibTransId="{AF33D169-76E5-455E-9C62-A8F30810C8B3}"/>
    <dgm:cxn modelId="{C8A9E63B-8382-0F4A-A5F8-2C0858DE08D5}" type="presOf" srcId="{24DDCC8B-89C5-46BF-8F52-FB67F01668D1}" destId="{707DC925-0883-7D42-81D5-337492041626}" srcOrd="0" destOrd="0" presId="urn:microsoft.com/office/officeart/2005/8/layout/default"/>
    <dgm:cxn modelId="{0C83C74B-A4CF-E24C-83AC-EDC157DCF59F}" type="presOf" srcId="{76FFEC7F-CF62-4CCB-883E-6F6FCA6A64B0}" destId="{52035D16-E2E2-F24F-B167-8076EAF722CB}" srcOrd="0" destOrd="0" presId="urn:microsoft.com/office/officeart/2005/8/layout/default"/>
    <dgm:cxn modelId="{AA59354C-E052-4B19-90BE-61FD843C080E}" srcId="{FAAD0627-AEC8-452E-ACD4-4AC25F698FFD}" destId="{16678B6D-CE21-42FF-A256-DBD5C39088E6}" srcOrd="7" destOrd="0" parTransId="{6B5A4138-354A-40FF-A210-8069DE494F93}" sibTransId="{539B2F60-5EB1-46B0-98A4-1D5555B032E8}"/>
    <dgm:cxn modelId="{D7CA446B-5F2B-9F4C-96E2-1A92056D6985}" type="presOf" srcId="{FAAD0627-AEC8-452E-ACD4-4AC25F698FFD}" destId="{18D961E9-B7DA-6549-A9BF-8DB93AF59990}" srcOrd="0" destOrd="0" presId="urn:microsoft.com/office/officeart/2005/8/layout/default"/>
    <dgm:cxn modelId="{9D18DA7D-24DE-4723-837A-2A3BCA8C5D3C}" srcId="{FAAD0627-AEC8-452E-ACD4-4AC25F698FFD}" destId="{24DDCC8B-89C5-46BF-8F52-FB67F01668D1}" srcOrd="4" destOrd="0" parTransId="{6DC33518-7EC5-4F18-9EF7-43F817AFB738}" sibTransId="{0351C228-0B07-4791-A60C-7A8B5A7FFC8A}"/>
    <dgm:cxn modelId="{CF910C8A-5AB5-4CB2-A09D-4B6D1A1F86AD}" srcId="{FAAD0627-AEC8-452E-ACD4-4AC25F698FFD}" destId="{FE6FC1C6-AE61-4999-90AC-26B7DF02932A}" srcOrd="8" destOrd="0" parTransId="{745D7616-4BA5-4C03-823D-FFF25244EDFA}" sibTransId="{D50B51DC-C93E-4C6E-8C61-1A0A264239E3}"/>
    <dgm:cxn modelId="{2073658B-21E0-A246-AAB6-03C9D94387B3}" type="presOf" srcId="{1F2EA9CB-399A-44EB-8E6F-1868ACA15891}" destId="{8A8530EE-01F8-0A44-9B91-EEB99F7BC27B}" srcOrd="0" destOrd="0" presId="urn:microsoft.com/office/officeart/2005/8/layout/default"/>
    <dgm:cxn modelId="{2F67628D-53D7-2240-AA09-752827A45925}" type="presOf" srcId="{D3F7FD14-7DA7-48C2-BFAA-8AACD98BD748}" destId="{9896BA50-2A78-714C-91C8-760D9183AB4A}" srcOrd="0" destOrd="0" presId="urn:microsoft.com/office/officeart/2005/8/layout/default"/>
    <dgm:cxn modelId="{DCC0A38F-73DD-4E37-A6CE-85DBD6400E82}" srcId="{FAAD0627-AEC8-452E-ACD4-4AC25F698FFD}" destId="{76FFEC7F-CF62-4CCB-883E-6F6FCA6A64B0}" srcOrd="6" destOrd="0" parTransId="{1593485A-A6E2-4B44-A863-A186F7F857F5}" sibTransId="{AB258805-BF24-49E0-9EF5-72E1BA5874DD}"/>
    <dgm:cxn modelId="{1F7BFF90-F7BB-824C-8792-F79952E651B4}" type="presOf" srcId="{B13E3C94-95C6-41A9-8BD4-B9400395086E}" destId="{5A129108-391A-5548-81B4-75D4BD6CB294}" srcOrd="0" destOrd="0" presId="urn:microsoft.com/office/officeart/2005/8/layout/default"/>
    <dgm:cxn modelId="{E30213A5-0050-7F4F-99CA-163E2ED6C00C}" type="presOf" srcId="{29B38C4C-E097-471B-A232-6B11A1E19812}" destId="{2ECC531A-6A07-B945-B8D5-CD6159A4215E}" srcOrd="0" destOrd="0" presId="urn:microsoft.com/office/officeart/2005/8/layout/default"/>
    <dgm:cxn modelId="{C53BBAAC-554E-0F46-BEE9-A465A534704D}" type="presOf" srcId="{16678B6D-CE21-42FF-A256-DBD5C39088E6}" destId="{76256357-65E2-6745-A153-62DB4334C656}" srcOrd="0" destOrd="0" presId="urn:microsoft.com/office/officeart/2005/8/layout/default"/>
    <dgm:cxn modelId="{EC6983C8-8433-490E-85CA-EFD4A4F5EFF3}" srcId="{FAAD0627-AEC8-452E-ACD4-4AC25F698FFD}" destId="{29B38C4C-E097-471B-A232-6B11A1E19812}" srcOrd="9" destOrd="0" parTransId="{BAE4F3FE-BEF7-4EC8-B203-EEFA144D8A0E}" sibTransId="{A0EE8350-A5E0-4E82-AE74-C33D95037F65}"/>
    <dgm:cxn modelId="{918CE8CD-2FCF-4069-9250-3509182350BA}" srcId="{FAAD0627-AEC8-452E-ACD4-4AC25F698FFD}" destId="{B13E3C94-95C6-41A9-8BD4-B9400395086E}" srcOrd="1" destOrd="0" parTransId="{3B5BBF0D-6FEA-456B-93A6-58E5CE287CFE}" sibTransId="{4D402860-9C98-431D-87AC-F3EC7756EFF4}"/>
    <dgm:cxn modelId="{CA71E56E-7A1E-9741-B11A-2AD331D3CB20}" type="presParOf" srcId="{18D961E9-B7DA-6549-A9BF-8DB93AF59990}" destId="{8A8530EE-01F8-0A44-9B91-EEB99F7BC27B}" srcOrd="0" destOrd="0" presId="urn:microsoft.com/office/officeart/2005/8/layout/default"/>
    <dgm:cxn modelId="{B9A3D822-3D98-9B46-B9E5-BA15BF82448D}" type="presParOf" srcId="{18D961E9-B7DA-6549-A9BF-8DB93AF59990}" destId="{ED35C57C-EDDF-1D4A-AE08-BAB3B6DA274A}" srcOrd="1" destOrd="0" presId="urn:microsoft.com/office/officeart/2005/8/layout/default"/>
    <dgm:cxn modelId="{BCA649F7-E0CB-5C46-8381-39C578ECA798}" type="presParOf" srcId="{18D961E9-B7DA-6549-A9BF-8DB93AF59990}" destId="{5A129108-391A-5548-81B4-75D4BD6CB294}" srcOrd="2" destOrd="0" presId="urn:microsoft.com/office/officeart/2005/8/layout/default"/>
    <dgm:cxn modelId="{FFBA3E9A-E1AF-D241-ABE4-E2DA5B6BC245}" type="presParOf" srcId="{18D961E9-B7DA-6549-A9BF-8DB93AF59990}" destId="{DEDBD725-F3F6-624A-8EB4-BBE9B48B9370}" srcOrd="3" destOrd="0" presId="urn:microsoft.com/office/officeart/2005/8/layout/default"/>
    <dgm:cxn modelId="{8D9E8735-7197-684B-B359-F6D811B44A12}" type="presParOf" srcId="{18D961E9-B7DA-6549-A9BF-8DB93AF59990}" destId="{9896BA50-2A78-714C-91C8-760D9183AB4A}" srcOrd="4" destOrd="0" presId="urn:microsoft.com/office/officeart/2005/8/layout/default"/>
    <dgm:cxn modelId="{A8D2C0B8-C2CF-7D44-A39D-18D1EA40278C}" type="presParOf" srcId="{18D961E9-B7DA-6549-A9BF-8DB93AF59990}" destId="{4E425D5A-B116-9440-9F76-95B44A8C601E}" srcOrd="5" destOrd="0" presId="urn:microsoft.com/office/officeart/2005/8/layout/default"/>
    <dgm:cxn modelId="{E3FDBEDF-09E3-6A44-8C4C-53C25D40F1DB}" type="presParOf" srcId="{18D961E9-B7DA-6549-A9BF-8DB93AF59990}" destId="{7C42CC6B-DC82-1846-8549-8E8C45EBBC76}" srcOrd="6" destOrd="0" presId="urn:microsoft.com/office/officeart/2005/8/layout/default"/>
    <dgm:cxn modelId="{99C7F401-A18B-9C4E-9E30-628E929838E5}" type="presParOf" srcId="{18D961E9-B7DA-6549-A9BF-8DB93AF59990}" destId="{F1CE1738-9B32-D94C-BDF6-A9629B42349B}" srcOrd="7" destOrd="0" presId="urn:microsoft.com/office/officeart/2005/8/layout/default"/>
    <dgm:cxn modelId="{1380C16E-F786-F942-AF0F-6BC2206353A5}" type="presParOf" srcId="{18D961E9-B7DA-6549-A9BF-8DB93AF59990}" destId="{707DC925-0883-7D42-81D5-337492041626}" srcOrd="8" destOrd="0" presId="urn:microsoft.com/office/officeart/2005/8/layout/default"/>
    <dgm:cxn modelId="{41D997CA-C802-2A42-8741-920356032888}" type="presParOf" srcId="{18D961E9-B7DA-6549-A9BF-8DB93AF59990}" destId="{4A1D76D4-770F-2944-9B5A-D2BAF7741338}" srcOrd="9" destOrd="0" presId="urn:microsoft.com/office/officeart/2005/8/layout/default"/>
    <dgm:cxn modelId="{33EE5355-86A6-6F44-A62D-D03C80311A94}" type="presParOf" srcId="{18D961E9-B7DA-6549-A9BF-8DB93AF59990}" destId="{39E79416-5A91-D74D-AA3E-BE6DDCDCF91E}" srcOrd="10" destOrd="0" presId="urn:microsoft.com/office/officeart/2005/8/layout/default"/>
    <dgm:cxn modelId="{9762C982-3458-4347-978D-234B75EB972B}" type="presParOf" srcId="{18D961E9-B7DA-6549-A9BF-8DB93AF59990}" destId="{1543CD19-EA7C-2C4D-8755-175C28E6AAD2}" srcOrd="11" destOrd="0" presId="urn:microsoft.com/office/officeart/2005/8/layout/default"/>
    <dgm:cxn modelId="{883BA2C4-EB53-7E41-B7F2-841E44FB044F}" type="presParOf" srcId="{18D961E9-B7DA-6549-A9BF-8DB93AF59990}" destId="{52035D16-E2E2-F24F-B167-8076EAF722CB}" srcOrd="12" destOrd="0" presId="urn:microsoft.com/office/officeart/2005/8/layout/default"/>
    <dgm:cxn modelId="{547AC6DA-3474-7843-8A45-AC7EC975AF5B}" type="presParOf" srcId="{18D961E9-B7DA-6549-A9BF-8DB93AF59990}" destId="{439DB273-AC8F-354F-B02F-EF4A5CB20809}" srcOrd="13" destOrd="0" presId="urn:microsoft.com/office/officeart/2005/8/layout/default"/>
    <dgm:cxn modelId="{D8BEDF03-ACBA-7545-90A3-8EF1B17E3228}" type="presParOf" srcId="{18D961E9-B7DA-6549-A9BF-8DB93AF59990}" destId="{76256357-65E2-6745-A153-62DB4334C656}" srcOrd="14" destOrd="0" presId="urn:microsoft.com/office/officeart/2005/8/layout/default"/>
    <dgm:cxn modelId="{76F92BAE-9C79-5247-B098-8470908D2DCE}" type="presParOf" srcId="{18D961E9-B7DA-6549-A9BF-8DB93AF59990}" destId="{3BCCB9EA-82D5-FF43-9DCC-A4850C4E3219}" srcOrd="15" destOrd="0" presId="urn:microsoft.com/office/officeart/2005/8/layout/default"/>
    <dgm:cxn modelId="{87A61428-C19A-9C4D-9C0E-EF70A3C954D9}" type="presParOf" srcId="{18D961E9-B7DA-6549-A9BF-8DB93AF59990}" destId="{F8B0A9D3-899A-7D45-816F-019B2F07CCD9}" srcOrd="16" destOrd="0" presId="urn:microsoft.com/office/officeart/2005/8/layout/default"/>
    <dgm:cxn modelId="{6F00A609-FE64-474C-8806-7E0E488D001C}" type="presParOf" srcId="{18D961E9-B7DA-6549-A9BF-8DB93AF59990}" destId="{6F18EFFA-889C-6A4C-8EA0-B20F97A94238}" srcOrd="17" destOrd="0" presId="urn:microsoft.com/office/officeart/2005/8/layout/default"/>
    <dgm:cxn modelId="{75265578-F094-A243-8960-274D74F59455}" type="presParOf" srcId="{18D961E9-B7DA-6549-A9BF-8DB93AF59990}" destId="{2ECC531A-6A07-B945-B8D5-CD6159A4215E}" srcOrd="18" destOrd="0" presId="urn:microsoft.com/office/officeart/2005/8/layout/default"/>
  </dgm:cxnLst>
  <dgm:bg/>
  <dgm:whole/>
  <dgm:extLst>
    <a:ext uri="http://schemas.microsoft.com/office/drawing/2008/diagram">
      <dsp:dataModelExt xmlns:dsp="http://schemas.microsoft.com/office/drawing/2008/diagram" relId="rId8"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A8530EE-01F8-0A44-9B91-EEB99F7BC27B}">
      <dsp:nvSpPr>
        <dsp:cNvPr id="0" name=""/>
        <dsp:cNvSpPr/>
      </dsp:nvSpPr>
      <dsp:spPr>
        <a:xfrm>
          <a:off x="0" y="384083"/>
          <a:ext cx="1497168" cy="898301"/>
        </a:xfrm>
        <a:prstGeom prst="rect">
          <a:avLst/>
        </a:prstGeom>
        <a:solidFill>
          <a:schemeClr val="accent1">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41910" tIns="41910" rIns="41910" bIns="41910" numCol="1" spcCol="1270" anchor="ctr" anchorCtr="0">
          <a:noAutofit/>
        </a:bodyPr>
        <a:lstStyle/>
        <a:p>
          <a:pPr marL="0" lvl="0" indent="0" algn="ctr" defTabSz="488950">
            <a:lnSpc>
              <a:spcPct val="90000"/>
            </a:lnSpc>
            <a:spcBef>
              <a:spcPct val="0"/>
            </a:spcBef>
            <a:spcAft>
              <a:spcPct val="35000"/>
            </a:spcAft>
            <a:buNone/>
          </a:pPr>
          <a:r>
            <a:rPr lang="en-US" sz="1100" kern="1200" dirty="0"/>
            <a:t> Single dataset</a:t>
          </a:r>
        </a:p>
      </dsp:txBody>
      <dsp:txXfrm>
        <a:off x="0" y="384083"/>
        <a:ext cx="1497168" cy="898301"/>
      </dsp:txXfrm>
    </dsp:sp>
    <dsp:sp modelId="{5A129108-391A-5548-81B4-75D4BD6CB294}">
      <dsp:nvSpPr>
        <dsp:cNvPr id="0" name=""/>
        <dsp:cNvSpPr/>
      </dsp:nvSpPr>
      <dsp:spPr>
        <a:xfrm>
          <a:off x="1646885" y="384083"/>
          <a:ext cx="1497168" cy="898301"/>
        </a:xfrm>
        <a:prstGeom prst="rect">
          <a:avLst/>
        </a:prstGeom>
        <a:solidFill>
          <a:schemeClr val="accent1">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41910" tIns="41910" rIns="41910" bIns="41910" numCol="1" spcCol="1270" anchor="ctr" anchorCtr="0">
          <a:noAutofit/>
        </a:bodyPr>
        <a:lstStyle/>
        <a:p>
          <a:pPr marL="0" lvl="0" indent="0" algn="ctr" defTabSz="488950">
            <a:lnSpc>
              <a:spcPct val="90000"/>
            </a:lnSpc>
            <a:spcBef>
              <a:spcPct val="0"/>
            </a:spcBef>
            <a:spcAft>
              <a:spcPct val="35000"/>
            </a:spcAft>
            <a:buNone/>
          </a:pPr>
          <a:r>
            <a:rPr lang="en-US" sz="1100" kern="1200" dirty="0"/>
            <a:t> Diabetes defined by diagnosis codes</a:t>
          </a:r>
        </a:p>
      </dsp:txBody>
      <dsp:txXfrm>
        <a:off x="1646885" y="384083"/>
        <a:ext cx="1497168" cy="898301"/>
      </dsp:txXfrm>
    </dsp:sp>
    <dsp:sp modelId="{9896BA50-2A78-714C-91C8-760D9183AB4A}">
      <dsp:nvSpPr>
        <dsp:cNvPr id="0" name=""/>
        <dsp:cNvSpPr/>
      </dsp:nvSpPr>
      <dsp:spPr>
        <a:xfrm>
          <a:off x="3293771" y="384083"/>
          <a:ext cx="1497168" cy="898301"/>
        </a:xfrm>
        <a:prstGeom prst="rect">
          <a:avLst/>
        </a:prstGeom>
        <a:solidFill>
          <a:schemeClr val="accent1">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41910" tIns="41910" rIns="41910" bIns="41910" numCol="1" spcCol="1270" anchor="ctr" anchorCtr="0">
          <a:noAutofit/>
        </a:bodyPr>
        <a:lstStyle/>
        <a:p>
          <a:pPr marL="0" lvl="0" indent="0" algn="ctr" defTabSz="488950">
            <a:lnSpc>
              <a:spcPct val="90000"/>
            </a:lnSpc>
            <a:spcBef>
              <a:spcPct val="0"/>
            </a:spcBef>
            <a:spcAft>
              <a:spcPct val="35000"/>
            </a:spcAft>
            <a:buNone/>
          </a:pPr>
          <a:r>
            <a:rPr lang="en-US" sz="1100" kern="1200" dirty="0"/>
            <a:t> Simple feature set</a:t>
          </a:r>
        </a:p>
      </dsp:txBody>
      <dsp:txXfrm>
        <a:off x="3293771" y="384083"/>
        <a:ext cx="1497168" cy="898301"/>
      </dsp:txXfrm>
    </dsp:sp>
    <dsp:sp modelId="{7C42CC6B-DC82-1846-8549-8E8C45EBBC76}">
      <dsp:nvSpPr>
        <dsp:cNvPr id="0" name=""/>
        <dsp:cNvSpPr/>
      </dsp:nvSpPr>
      <dsp:spPr>
        <a:xfrm>
          <a:off x="0" y="1432101"/>
          <a:ext cx="1497168" cy="898301"/>
        </a:xfrm>
        <a:prstGeom prst="rect">
          <a:avLst/>
        </a:prstGeom>
        <a:solidFill>
          <a:schemeClr val="accent1">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41910" tIns="41910" rIns="41910" bIns="41910" numCol="1" spcCol="1270" anchor="ctr" anchorCtr="0">
          <a:noAutofit/>
        </a:bodyPr>
        <a:lstStyle/>
        <a:p>
          <a:pPr marL="0" lvl="0" indent="0" algn="ctr" defTabSz="488950">
            <a:lnSpc>
              <a:spcPct val="90000"/>
            </a:lnSpc>
            <a:spcBef>
              <a:spcPct val="0"/>
            </a:spcBef>
            <a:spcAft>
              <a:spcPct val="35000"/>
            </a:spcAft>
            <a:buNone/>
          </a:pPr>
          <a:r>
            <a:rPr lang="en-US" sz="1100" kern="1200" dirty="0"/>
            <a:t> Educational use only</a:t>
          </a:r>
        </a:p>
      </dsp:txBody>
      <dsp:txXfrm>
        <a:off x="0" y="1432101"/>
        <a:ext cx="1497168" cy="898301"/>
      </dsp:txXfrm>
    </dsp:sp>
    <dsp:sp modelId="{707DC925-0883-7D42-81D5-337492041626}">
      <dsp:nvSpPr>
        <dsp:cNvPr id="0" name=""/>
        <dsp:cNvSpPr/>
      </dsp:nvSpPr>
      <dsp:spPr>
        <a:xfrm>
          <a:off x="1646885" y="1432101"/>
          <a:ext cx="1497168" cy="898301"/>
        </a:xfrm>
        <a:prstGeom prst="rect">
          <a:avLst/>
        </a:prstGeom>
        <a:solidFill>
          <a:schemeClr val="accent1">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41910" tIns="41910" rIns="41910" bIns="41910" numCol="1" spcCol="1270" anchor="ctr" anchorCtr="0">
          <a:noAutofit/>
        </a:bodyPr>
        <a:lstStyle/>
        <a:p>
          <a:pPr marL="0" lvl="0" indent="0" algn="ctr" defTabSz="488950">
            <a:lnSpc>
              <a:spcPct val="90000"/>
            </a:lnSpc>
            <a:spcBef>
              <a:spcPct val="0"/>
            </a:spcBef>
            <a:spcAft>
              <a:spcPct val="35000"/>
            </a:spcAft>
            <a:buNone/>
          </a:pPr>
          <a:r>
            <a:rPr lang="en-US" sz="1100" kern="1200" dirty="0"/>
            <a:t>Replication:</a:t>
          </a:r>
        </a:p>
      </dsp:txBody>
      <dsp:txXfrm>
        <a:off x="1646885" y="1432101"/>
        <a:ext cx="1497168" cy="898301"/>
      </dsp:txXfrm>
    </dsp:sp>
    <dsp:sp modelId="{39E79416-5A91-D74D-AA3E-BE6DDCDCF91E}">
      <dsp:nvSpPr>
        <dsp:cNvPr id="0" name=""/>
        <dsp:cNvSpPr/>
      </dsp:nvSpPr>
      <dsp:spPr>
        <a:xfrm>
          <a:off x="3293771" y="1432101"/>
          <a:ext cx="1497168" cy="898301"/>
        </a:xfrm>
        <a:prstGeom prst="rect">
          <a:avLst/>
        </a:prstGeom>
        <a:solidFill>
          <a:schemeClr val="accent1">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41910" tIns="41910" rIns="41910" bIns="41910" numCol="1" spcCol="1270" anchor="ctr" anchorCtr="0">
          <a:noAutofit/>
        </a:bodyPr>
        <a:lstStyle/>
        <a:p>
          <a:pPr marL="0" lvl="0" indent="0" algn="ctr" defTabSz="488950">
            <a:lnSpc>
              <a:spcPct val="90000"/>
            </a:lnSpc>
            <a:spcBef>
              <a:spcPct val="0"/>
            </a:spcBef>
            <a:spcAft>
              <a:spcPct val="35000"/>
            </a:spcAft>
            <a:buNone/>
          </a:pPr>
          <a:r>
            <a:rPr lang="en-US" sz="1100" kern="1200" dirty="0"/>
            <a:t> Load cohort file</a:t>
          </a:r>
        </a:p>
      </dsp:txBody>
      <dsp:txXfrm>
        <a:off x="3293771" y="1432101"/>
        <a:ext cx="1497168" cy="898301"/>
      </dsp:txXfrm>
    </dsp:sp>
    <dsp:sp modelId="{52035D16-E2E2-F24F-B167-8076EAF722CB}">
      <dsp:nvSpPr>
        <dsp:cNvPr id="0" name=""/>
        <dsp:cNvSpPr/>
      </dsp:nvSpPr>
      <dsp:spPr>
        <a:xfrm>
          <a:off x="0" y="2480119"/>
          <a:ext cx="1497168" cy="898301"/>
        </a:xfrm>
        <a:prstGeom prst="rect">
          <a:avLst/>
        </a:prstGeom>
        <a:solidFill>
          <a:schemeClr val="accent1">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41910" tIns="41910" rIns="41910" bIns="41910" numCol="1" spcCol="1270" anchor="ctr" anchorCtr="0">
          <a:noAutofit/>
        </a:bodyPr>
        <a:lstStyle/>
        <a:p>
          <a:pPr marL="0" lvl="0" indent="0" algn="ctr" defTabSz="488950">
            <a:lnSpc>
              <a:spcPct val="90000"/>
            </a:lnSpc>
            <a:spcBef>
              <a:spcPct val="0"/>
            </a:spcBef>
            <a:spcAft>
              <a:spcPct val="35000"/>
            </a:spcAft>
            <a:buNone/>
          </a:pPr>
          <a:r>
            <a:rPr lang="en-US" sz="1100" kern="1200" dirty="0"/>
            <a:t> Run notebook in order</a:t>
          </a:r>
        </a:p>
      </dsp:txBody>
      <dsp:txXfrm>
        <a:off x="0" y="2480119"/>
        <a:ext cx="1497168" cy="898301"/>
      </dsp:txXfrm>
    </dsp:sp>
    <dsp:sp modelId="{76256357-65E2-6745-A153-62DB4334C656}">
      <dsp:nvSpPr>
        <dsp:cNvPr id="0" name=""/>
        <dsp:cNvSpPr/>
      </dsp:nvSpPr>
      <dsp:spPr>
        <a:xfrm>
          <a:off x="1646885" y="2480119"/>
          <a:ext cx="1497168" cy="898301"/>
        </a:xfrm>
        <a:prstGeom prst="rect">
          <a:avLst/>
        </a:prstGeom>
        <a:solidFill>
          <a:schemeClr val="accent1">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41910" tIns="41910" rIns="41910" bIns="41910" numCol="1" spcCol="1270" anchor="ctr" anchorCtr="0">
          <a:noAutofit/>
        </a:bodyPr>
        <a:lstStyle/>
        <a:p>
          <a:pPr marL="0" lvl="0" indent="0" algn="ctr" defTabSz="488950">
            <a:lnSpc>
              <a:spcPct val="90000"/>
            </a:lnSpc>
            <a:spcBef>
              <a:spcPct val="0"/>
            </a:spcBef>
            <a:spcAft>
              <a:spcPct val="35000"/>
            </a:spcAft>
            <a:buNone/>
          </a:pPr>
          <a:r>
            <a:rPr lang="en-US" sz="1100" kern="1200" dirty="0"/>
            <a:t> Reproduce charts and metrics</a:t>
          </a:r>
        </a:p>
      </dsp:txBody>
      <dsp:txXfrm>
        <a:off x="1646885" y="2480119"/>
        <a:ext cx="1497168" cy="898301"/>
      </dsp:txXfrm>
    </dsp:sp>
    <dsp:sp modelId="{F8B0A9D3-899A-7D45-816F-019B2F07CCD9}">
      <dsp:nvSpPr>
        <dsp:cNvPr id="0" name=""/>
        <dsp:cNvSpPr/>
      </dsp:nvSpPr>
      <dsp:spPr>
        <a:xfrm>
          <a:off x="3293771" y="2480119"/>
          <a:ext cx="1497168" cy="898301"/>
        </a:xfrm>
        <a:prstGeom prst="rect">
          <a:avLst/>
        </a:prstGeom>
        <a:solidFill>
          <a:schemeClr val="accent1">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41910" tIns="41910" rIns="41910" bIns="41910" numCol="1" spcCol="1270" anchor="ctr" anchorCtr="0">
          <a:noAutofit/>
        </a:bodyPr>
        <a:lstStyle/>
        <a:p>
          <a:pPr marL="0" lvl="0" indent="0" algn="ctr" defTabSz="488950">
            <a:lnSpc>
              <a:spcPct val="90000"/>
            </a:lnSpc>
            <a:spcBef>
              <a:spcPct val="0"/>
            </a:spcBef>
            <a:spcAft>
              <a:spcPct val="35000"/>
            </a:spcAft>
            <a:buNone/>
          </a:pPr>
          <a:r>
            <a:rPr lang="en-US" sz="1100" kern="1200" dirty="0"/>
            <a:t>Speaker notes:</a:t>
          </a:r>
        </a:p>
      </dsp:txBody>
      <dsp:txXfrm>
        <a:off x="3293771" y="2480119"/>
        <a:ext cx="1497168" cy="898301"/>
      </dsp:txXfrm>
    </dsp:sp>
    <dsp:sp modelId="{2ECC531A-6A07-B945-B8D5-CD6159A4215E}">
      <dsp:nvSpPr>
        <dsp:cNvPr id="0" name=""/>
        <dsp:cNvSpPr/>
      </dsp:nvSpPr>
      <dsp:spPr>
        <a:xfrm>
          <a:off x="1646885" y="3528138"/>
          <a:ext cx="1497168" cy="898301"/>
        </a:xfrm>
        <a:prstGeom prst="rect">
          <a:avLst/>
        </a:prstGeom>
        <a:solidFill>
          <a:schemeClr val="accent1">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41910" tIns="41910" rIns="41910" bIns="41910" numCol="1" spcCol="1270" anchor="ctr" anchorCtr="0">
          <a:noAutofit/>
        </a:bodyPr>
        <a:lstStyle/>
        <a:p>
          <a:pPr marL="0" lvl="0" indent="0" algn="ctr" defTabSz="488950">
            <a:lnSpc>
              <a:spcPct val="90000"/>
            </a:lnSpc>
            <a:spcBef>
              <a:spcPct val="0"/>
            </a:spcBef>
            <a:spcAft>
              <a:spcPct val="35000"/>
            </a:spcAft>
            <a:buNone/>
          </a:pPr>
          <a:r>
            <a:rPr lang="en-US" sz="1100" kern="1200"/>
            <a:t>This project is designed for reproducibility and teaching, not clinical deployment.</a:t>
          </a:r>
        </a:p>
      </dsp:txBody>
      <dsp:txXfrm>
        <a:off x="1646885" y="3528138"/>
        <a:ext cx="1497168" cy="898301"/>
      </dsp:txXfrm>
    </dsp:sp>
  </dsp:spTree>
</dsp:drawing>
</file>

<file path=ppt/diagrams/layout1.xml><?xml version="1.0" encoding="utf-8"?>
<dgm:layoutDef xmlns:dgm="http://schemas.openxmlformats.org/drawingml/2006/diagram" xmlns:a="http://schemas.openxmlformats.org/drawingml/2006/main" uniqueId="urn:microsoft.com/office/officeart/2005/8/layout/default">
  <dgm:title val=""/>
  <dgm:desc val=""/>
  <dgm:catLst>
    <dgm:cat type="list" pri="400"/>
  </dgm:catLst>
  <dgm:sampData>
    <dgm:dataModel>
      <dgm:ptLst>
        <dgm:pt modelId="0" type="doc"/>
        <dgm:pt modelId="1">
          <dgm:prSet phldr="1"/>
        </dgm:pt>
        <dgm:pt modelId="2">
          <dgm:prSet phldr="1"/>
        </dgm:pt>
        <dgm:pt modelId="3">
          <dgm:prSet phldr="1"/>
        </dgm:pt>
        <dgm:pt modelId="4">
          <dgm:prSet phldr="1"/>
        </dgm:pt>
        <dgm:pt modelId="5">
          <dgm:prSet phldr="1"/>
        </dgm:pt>
      </dgm:ptLst>
      <dgm:cxnLst>
        <dgm:cxn modelId="6" srcId="0" destId="1" srcOrd="0" destOrd="0"/>
        <dgm:cxn modelId="7" srcId="0" destId="2" srcOrd="1" destOrd="0"/>
        <dgm:cxn modelId="8" srcId="0" destId="3" srcOrd="2" destOrd="0"/>
        <dgm:cxn modelId="9" srcId="0" destId="4" srcOrd="3" destOrd="0"/>
        <dgm:cxn modelId="10" srcId="0" destId="5" srcOrd="4"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 modelId="5"/>
        <dgm:pt modelId="6"/>
      </dgm:ptLst>
      <dgm:cxnLst>
        <dgm:cxn modelId="7" srcId="0" destId="1" srcOrd="0" destOrd="0"/>
        <dgm:cxn modelId="8" srcId="0" destId="2" srcOrd="1" destOrd="0"/>
        <dgm:cxn modelId="9" srcId="0" destId="3" srcOrd="2" destOrd="0"/>
        <dgm:cxn modelId="10" srcId="0" destId="4" srcOrd="3" destOrd="0"/>
        <dgm:cxn modelId="11" srcId="0" destId="5" srcOrd="4" destOrd="0"/>
        <dgm:cxn modelId="12" srcId="0" destId="6" srcOrd="5" destOrd="0"/>
      </dgm:cxnLst>
      <dgm:bg/>
      <dgm:whole/>
    </dgm:dataModel>
  </dgm:clrData>
  <dgm:layoutNode name="diagram">
    <dgm:varLst>
      <dgm:dir/>
      <dgm:resizeHandles val="exact"/>
    </dgm:varLst>
    <dgm:choose name="Name0">
      <dgm:if name="Name1" func="var" arg="dir" op="equ" val="norm">
        <dgm:alg type="snake">
          <dgm:param type="grDir" val="tL"/>
          <dgm:param type="flowDir" val="row"/>
          <dgm:param type="contDir" val="sameDir"/>
          <dgm:param type="off" val="ctr"/>
        </dgm:alg>
      </dgm:if>
      <dgm:else name="Name2">
        <dgm:alg type="snake">
          <dgm:param type="grDir" val="tR"/>
          <dgm:param type="flowDir" val="row"/>
          <dgm:param type="contDir" val="sameDir"/>
          <dgm:param type="off" val="ctr"/>
        </dgm:alg>
      </dgm:else>
    </dgm:choose>
    <dgm:shape xmlns:r="http://schemas.openxmlformats.org/officeDocument/2006/relationships" r:blip="">
      <dgm:adjLst/>
    </dgm:shape>
    <dgm:presOf/>
    <dgm:constrLst>
      <dgm:constr type="w" for="ch" forName="node" refType="w"/>
      <dgm:constr type="h" for="ch" forName="node" refType="w" refFor="ch" refForName="node" fact="0.6"/>
      <dgm:constr type="w" for="ch" forName="sibTrans" refType="w" refFor="ch" refForName="node" fact="0.1"/>
      <dgm:constr type="sp" refType="w" refFor="ch" refForName="sibTrans"/>
      <dgm:constr type="primFontSz" for="ch" forName="node" op="equ" val="65"/>
    </dgm:constrLst>
    <dgm:ruleLst/>
    <dgm:forEach name="Name3" axis="ch" ptType="node">
      <dgm:layoutNode name="node">
        <dgm:varLst>
          <dgm:bulletEnabled val="1"/>
        </dgm:varLst>
        <dgm:alg type="tx"/>
        <dgm:shape xmlns:r="http://schemas.openxmlformats.org/officeDocument/2006/relationships" type="rect" r:blip="">
          <dgm:adjLst/>
        </dgm:shape>
        <dgm:presOf axis="desOrSelf"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forEach name="Name4" axis="followSib" ptType="sibTrans" cnt="1">
        <dgm:layoutNode name="sibTrans">
          <dgm:alg type="sp"/>
          <dgm:shape xmlns:r="http://schemas.openxmlformats.org/officeDocument/2006/relationships" r:blip="">
            <dgm:adjLst/>
          </dgm:shape>
          <dgm:presOf/>
          <dgm:constrLst/>
          <dgm:ruleLst/>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E8B41FDA-B39B-3F48-8DF9-7B4994C3FEDB}" type="datetimeFigureOut">
              <a:rPr lang="en-US" smtClean="0"/>
              <a:t>3/13/26</a:t>
            </a:fld>
            <a:endParaRPr lang="en-US"/>
          </a:p>
        </p:txBody>
      </p:sp>
      <p:sp>
        <p:nvSpPr>
          <p:cNvPr id="4" name="Slide Image Placeholder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BCD9374F-9954-F24E-8880-8CA162CE8CFB}" type="slidenum">
              <a:rPr lang="en-US" smtClean="0"/>
              <a:t>‹#›</a:t>
            </a:fld>
            <a:endParaRPr lang="en-US"/>
          </a:p>
        </p:txBody>
      </p:sp>
    </p:spTree>
    <p:extLst>
      <p:ext uri="{BB962C8B-B14F-4D97-AF65-F5344CB8AC3E}">
        <p14:creationId xmlns:p14="http://schemas.microsoft.com/office/powerpoint/2010/main" val="66668288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Bef>
                <a:spcPct val="0"/>
              </a:spcBef>
              <a:spcAft>
                <a:spcPts val="600"/>
              </a:spcAft>
              <a:buFont typeface="Wingdings" pitchFamily="2" charset="2"/>
              <a:buChar char="v"/>
            </a:pPr>
            <a:r>
              <a:rPr lang="en-US" sz="1200" dirty="0"/>
              <a:t>Speaker notes:</a:t>
            </a:r>
          </a:p>
          <a:p>
            <a:pPr>
              <a:spcBef>
                <a:spcPct val="0"/>
              </a:spcBef>
              <a:spcAft>
                <a:spcPts val="600"/>
              </a:spcAft>
              <a:buFont typeface="Wingdings" pitchFamily="2" charset="2"/>
              <a:buChar char="v"/>
            </a:pPr>
            <a:endParaRPr lang="en-US" sz="1200" dirty="0"/>
          </a:p>
          <a:p>
            <a:pPr>
              <a:spcBef>
                <a:spcPct val="0"/>
              </a:spcBef>
              <a:spcAft>
                <a:spcPts val="600"/>
              </a:spcAft>
              <a:buFont typeface="Wingdings" pitchFamily="2" charset="2"/>
              <a:buChar char="v"/>
            </a:pPr>
            <a:r>
              <a:rPr lang="en-US" dirty="0"/>
              <a:t>Diabetes is a major contributor to hospitalization and critical care needs in many healthcare settings.</a:t>
            </a:r>
            <a:br>
              <a:rPr lang="en-US" dirty="0"/>
            </a:br>
            <a:r>
              <a:rPr lang="en-US" dirty="0"/>
              <a:t>Patients with diabetes in the ICU often require more complex management because of complications and comorbidities.</a:t>
            </a:r>
            <a:br>
              <a:rPr lang="en-US" dirty="0"/>
            </a:br>
            <a:r>
              <a:rPr lang="en-US" dirty="0"/>
              <a:t>This added complexity can influence treatment decisions, monitoring needs, and overall recovery time.</a:t>
            </a:r>
            <a:br>
              <a:rPr lang="en-US" dirty="0"/>
            </a:br>
            <a:r>
              <a:rPr lang="en-US" dirty="0"/>
              <a:t>Predicting length of stay is important because it can help hospitals improve staffing and bed planning.</a:t>
            </a:r>
            <a:br>
              <a:rPr lang="en-US" dirty="0"/>
            </a:br>
            <a:r>
              <a:rPr lang="en-US" dirty="0"/>
              <a:t>It can also support better resource allocation and care planning for diabetic ICU patients.</a:t>
            </a:r>
          </a:p>
        </p:txBody>
      </p:sp>
      <p:sp>
        <p:nvSpPr>
          <p:cNvPr id="4" name="Slide Number Placeholder 3"/>
          <p:cNvSpPr>
            <a:spLocks noGrp="1"/>
          </p:cNvSpPr>
          <p:nvPr>
            <p:ph type="sldNum" sz="quarter" idx="5"/>
          </p:nvPr>
        </p:nvSpPr>
        <p:spPr/>
        <p:txBody>
          <a:bodyPr/>
          <a:lstStyle/>
          <a:p>
            <a:fld id="{BCD9374F-9954-F24E-8880-8CA162CE8CFB}" type="slidenum">
              <a:rPr lang="en-US" smtClean="0"/>
              <a:t>3</a:t>
            </a:fld>
            <a:endParaRPr lang="en-US"/>
          </a:p>
        </p:txBody>
      </p:sp>
    </p:spTree>
    <p:extLst>
      <p:ext uri="{BB962C8B-B14F-4D97-AF65-F5344CB8AC3E}">
        <p14:creationId xmlns:p14="http://schemas.microsoft.com/office/powerpoint/2010/main" val="356416451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1">
              <a:lnSpc>
                <a:spcPct val="90000"/>
              </a:lnSpc>
              <a:buFont typeface="Wingdings" pitchFamily="2" charset="2"/>
              <a:buChar char="v"/>
            </a:pPr>
            <a:r>
              <a:rPr lang="en-US" sz="1800" dirty="0"/>
              <a:t>Speaker notes: This project begins by identifying diabetic patients who were admitted to the ICU using MIMIC-III data.</a:t>
            </a:r>
            <a:br>
              <a:rPr lang="en-US" sz="1800" dirty="0"/>
            </a:br>
            <a:r>
              <a:rPr lang="en-US" sz="1800" dirty="0"/>
              <a:t>After selecting the cohort, the next step is to build structured features from demographic and admission-related variables. These features may include age, gender, admission type, insurance, ethnicity, and diagnosis counts. The goal is to use these structured inputs to train a machine learning model.</a:t>
            </a:r>
            <a:br>
              <a:rPr lang="en-US" sz="1800" dirty="0"/>
            </a:br>
            <a:r>
              <a:rPr lang="en-US" sz="1800" dirty="0"/>
              <a:t>The final objective is to predict the ICU length-of-stay category for diabetic patients.</a:t>
            </a:r>
          </a:p>
          <a:p>
            <a:pPr lvl="1">
              <a:lnSpc>
                <a:spcPct val="90000"/>
              </a:lnSpc>
              <a:buFont typeface="Wingdings" pitchFamily="2" charset="2"/>
              <a:buChar char="v"/>
            </a:pPr>
            <a:endParaRPr lang="en-US" dirty="0"/>
          </a:p>
        </p:txBody>
      </p:sp>
      <p:sp>
        <p:nvSpPr>
          <p:cNvPr id="4" name="Slide Number Placeholder 3"/>
          <p:cNvSpPr>
            <a:spLocks noGrp="1"/>
          </p:cNvSpPr>
          <p:nvPr>
            <p:ph type="sldNum" sz="quarter" idx="5"/>
          </p:nvPr>
        </p:nvSpPr>
        <p:spPr/>
        <p:txBody>
          <a:bodyPr/>
          <a:lstStyle/>
          <a:p>
            <a:fld id="{BCD9374F-9954-F24E-8880-8CA162CE8CFB}" type="slidenum">
              <a:rPr lang="en-US" smtClean="0"/>
              <a:t>4</a:t>
            </a:fld>
            <a:endParaRPr lang="en-US"/>
          </a:p>
        </p:txBody>
      </p:sp>
    </p:spTree>
    <p:extLst>
      <p:ext uri="{BB962C8B-B14F-4D97-AF65-F5344CB8AC3E}">
        <p14:creationId xmlns:p14="http://schemas.microsoft.com/office/powerpoint/2010/main" val="31195674"/>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1">
              <a:buFont typeface="Wingdings" pitchFamily="2" charset="2"/>
              <a:buChar char="v"/>
            </a:pPr>
            <a:r>
              <a:rPr lang="en-US" sz="1700" dirty="0"/>
              <a:t>Speaker notes:</a:t>
            </a:r>
          </a:p>
          <a:p>
            <a:r>
              <a:rPr lang="en-US" sz="1200" kern="1200" dirty="0">
                <a:solidFill>
                  <a:schemeClr val="tx1"/>
                </a:solidFill>
                <a:effectLst/>
                <a:latin typeface="+mn-lt"/>
                <a:ea typeface="+mn-ea"/>
                <a:cs typeface="+mn-cs"/>
              </a:rPr>
              <a:t>This slide presents the main research question for the project. The goal is to determine whether structured MIMIC-III data can predict ICU length-of-stay category for diabetic patients.</a:t>
            </a:r>
          </a:p>
          <a:p>
            <a:r>
              <a:rPr lang="en-US" sz="1200" kern="1200" dirty="0">
                <a:solidFill>
                  <a:schemeClr val="tx1"/>
                </a:solidFill>
                <a:effectLst/>
                <a:latin typeface="+mn-lt"/>
                <a:ea typeface="+mn-ea"/>
                <a:cs typeface="+mn-cs"/>
              </a:rPr>
              <a:t>Instead of predicting an exact number of days, the outcome is grouped into short, medium, and long stay categories. This makes the problem a multiclass classification task that is easier to model and explain. It also helps demonstrate how structured hospital data can be used for practical healthcare prediction.</a:t>
            </a:r>
          </a:p>
          <a:p>
            <a:pPr lvl="1">
              <a:buFont typeface="Wingdings" pitchFamily="2" charset="2"/>
              <a:buChar char="v"/>
            </a:pPr>
            <a:endParaRPr lang="en-US" sz="1700" dirty="0"/>
          </a:p>
          <a:p>
            <a:pPr lvl="1">
              <a:buFont typeface="Wingdings" pitchFamily="2" charset="2"/>
              <a:buChar char="v"/>
            </a:pPr>
            <a:endParaRPr lang="en-US" dirty="0"/>
          </a:p>
        </p:txBody>
      </p:sp>
      <p:sp>
        <p:nvSpPr>
          <p:cNvPr id="4" name="Slide Number Placeholder 3"/>
          <p:cNvSpPr>
            <a:spLocks noGrp="1"/>
          </p:cNvSpPr>
          <p:nvPr>
            <p:ph type="sldNum" sz="quarter" idx="5"/>
          </p:nvPr>
        </p:nvSpPr>
        <p:spPr/>
        <p:txBody>
          <a:bodyPr/>
          <a:lstStyle/>
          <a:p>
            <a:fld id="{BCD9374F-9954-F24E-8880-8CA162CE8CFB}" type="slidenum">
              <a:rPr lang="en-US" smtClean="0"/>
              <a:t>5</a:t>
            </a:fld>
            <a:endParaRPr lang="en-US"/>
          </a:p>
        </p:txBody>
      </p:sp>
    </p:spTree>
    <p:extLst>
      <p:ext uri="{BB962C8B-B14F-4D97-AF65-F5344CB8AC3E}">
        <p14:creationId xmlns:p14="http://schemas.microsoft.com/office/powerpoint/2010/main" val="4083069444"/>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457200" lvl="1" indent="0">
              <a:lnSpc>
                <a:spcPct val="90000"/>
              </a:lnSpc>
              <a:buNone/>
            </a:pPr>
            <a:r>
              <a:rPr lang="en-US" sz="1500" dirty="0"/>
              <a:t>Speaker notes:</a:t>
            </a:r>
          </a:p>
          <a:p>
            <a:r>
              <a:rPr lang="en-US" sz="1200" kern="1200" dirty="0">
                <a:solidFill>
                  <a:schemeClr val="tx1"/>
                </a:solidFill>
                <a:effectLst/>
                <a:latin typeface="+mn-lt"/>
                <a:ea typeface="+mn-ea"/>
                <a:cs typeface="+mn-cs"/>
              </a:rPr>
              <a:t>This project focuses only on patients who were admitted to the ICU. Diabetic patients are identified using ICD-9 diagnosis codes that begin with 250. After selecting the cohort, the relevant MIMIC-III tables are merged using </a:t>
            </a:r>
            <a:r>
              <a:rPr lang="en-US" sz="1200" kern="1200" dirty="0" err="1">
                <a:solidFill>
                  <a:schemeClr val="tx1"/>
                </a:solidFill>
                <a:effectLst/>
                <a:latin typeface="+mn-lt"/>
                <a:ea typeface="+mn-ea"/>
                <a:cs typeface="+mn-cs"/>
              </a:rPr>
              <a:t>subject_id</a:t>
            </a:r>
            <a:r>
              <a:rPr lang="en-US" sz="1200" kern="1200" dirty="0">
                <a:solidFill>
                  <a:schemeClr val="tx1"/>
                </a:solidFill>
                <a:effectLst/>
                <a:latin typeface="+mn-lt"/>
                <a:ea typeface="+mn-ea"/>
                <a:cs typeface="+mn-cs"/>
              </a:rPr>
              <a:t> and </a:t>
            </a:r>
            <a:r>
              <a:rPr lang="en-US" sz="1200" kern="1200" dirty="0" err="1">
                <a:solidFill>
                  <a:schemeClr val="tx1"/>
                </a:solidFill>
                <a:effectLst/>
                <a:latin typeface="+mn-lt"/>
                <a:ea typeface="+mn-ea"/>
                <a:cs typeface="+mn-cs"/>
              </a:rPr>
              <a:t>hadm_id</a:t>
            </a:r>
            <a:r>
              <a:rPr lang="en-US" sz="1200" kern="1200" dirty="0">
                <a:solidFill>
                  <a:schemeClr val="tx1"/>
                </a:solidFill>
                <a:effectLst/>
                <a:latin typeface="+mn-lt"/>
                <a:ea typeface="+mn-ea"/>
                <a:cs typeface="+mn-cs"/>
              </a:rPr>
              <a:t>.</a:t>
            </a:r>
          </a:p>
          <a:p>
            <a:r>
              <a:rPr lang="en-US" sz="1200" kern="1200" dirty="0">
                <a:solidFill>
                  <a:schemeClr val="tx1"/>
                </a:solidFill>
                <a:effectLst/>
                <a:latin typeface="+mn-lt"/>
                <a:ea typeface="+mn-ea"/>
                <a:cs typeface="+mn-cs"/>
              </a:rPr>
              <a:t>These joins allow demographic, admission, and ICU stay information to be combined into one dataset. The final step is to clean missing values and remove unrealistic records before modeling.</a:t>
            </a:r>
          </a:p>
          <a:p>
            <a:pPr marL="457200" lvl="1" indent="0">
              <a:lnSpc>
                <a:spcPct val="90000"/>
              </a:lnSpc>
              <a:buNone/>
            </a:pPr>
            <a:endParaRPr lang="en-US" dirty="0"/>
          </a:p>
        </p:txBody>
      </p:sp>
      <p:sp>
        <p:nvSpPr>
          <p:cNvPr id="4" name="Slide Number Placeholder 3"/>
          <p:cNvSpPr>
            <a:spLocks noGrp="1"/>
          </p:cNvSpPr>
          <p:nvPr>
            <p:ph type="sldNum" sz="quarter" idx="5"/>
          </p:nvPr>
        </p:nvSpPr>
        <p:spPr/>
        <p:txBody>
          <a:bodyPr/>
          <a:lstStyle/>
          <a:p>
            <a:fld id="{BCD9374F-9954-F24E-8880-8CA162CE8CFB}" type="slidenum">
              <a:rPr lang="en-US" smtClean="0"/>
              <a:t>6</a:t>
            </a:fld>
            <a:endParaRPr lang="en-US"/>
          </a:p>
        </p:txBody>
      </p:sp>
    </p:spTree>
    <p:extLst>
      <p:ext uri="{BB962C8B-B14F-4D97-AF65-F5344CB8AC3E}">
        <p14:creationId xmlns:p14="http://schemas.microsoft.com/office/powerpoint/2010/main" val="1950388806"/>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1">
              <a:lnSpc>
                <a:spcPct val="90000"/>
              </a:lnSpc>
              <a:buFont typeface="Wingdings" pitchFamily="2" charset="2"/>
              <a:buChar char="v"/>
            </a:pPr>
            <a:r>
              <a:rPr lang="en-US" sz="1300" dirty="0"/>
              <a:t>Speaker notes:</a:t>
            </a:r>
          </a:p>
          <a:p>
            <a:r>
              <a:rPr lang="en-US" sz="1200" kern="1200" dirty="0">
                <a:solidFill>
                  <a:schemeClr val="tx1"/>
                </a:solidFill>
                <a:effectLst/>
                <a:latin typeface="+mn-lt"/>
                <a:ea typeface="+mn-ea"/>
                <a:cs typeface="+mn-cs"/>
              </a:rPr>
              <a:t> </a:t>
            </a:r>
          </a:p>
          <a:p>
            <a:r>
              <a:rPr lang="en-US" sz="1200" kern="1200" dirty="0">
                <a:solidFill>
                  <a:schemeClr val="tx1"/>
                </a:solidFill>
                <a:effectLst/>
                <a:latin typeface="+mn-lt"/>
                <a:ea typeface="+mn-ea"/>
                <a:cs typeface="+mn-cs"/>
              </a:rPr>
              <a:t>These are the main structured features used in the model. Age at ICU admission captures the patient’s age at the time of critical care. Gender, admission type, insurance, and ethnicity provide demographic and hospital-related context. The number of diagnoses is included as a simple measure of overall illness complexity. Together, these features help the model predict ICU length-of-stay category for diabetic patients.</a:t>
            </a:r>
          </a:p>
          <a:p>
            <a:pPr lvl="1">
              <a:lnSpc>
                <a:spcPct val="90000"/>
              </a:lnSpc>
              <a:buFont typeface="Wingdings" pitchFamily="2" charset="2"/>
              <a:buChar char="v"/>
            </a:pPr>
            <a:endParaRPr lang="en-US" dirty="0"/>
          </a:p>
        </p:txBody>
      </p:sp>
      <p:sp>
        <p:nvSpPr>
          <p:cNvPr id="4" name="Slide Number Placeholder 3"/>
          <p:cNvSpPr>
            <a:spLocks noGrp="1"/>
          </p:cNvSpPr>
          <p:nvPr>
            <p:ph type="sldNum" sz="quarter" idx="5"/>
          </p:nvPr>
        </p:nvSpPr>
        <p:spPr/>
        <p:txBody>
          <a:bodyPr/>
          <a:lstStyle/>
          <a:p>
            <a:fld id="{BCD9374F-9954-F24E-8880-8CA162CE8CFB}" type="slidenum">
              <a:rPr lang="en-US" smtClean="0"/>
              <a:t>7</a:t>
            </a:fld>
            <a:endParaRPr lang="en-US"/>
          </a:p>
        </p:txBody>
      </p:sp>
    </p:spTree>
    <p:extLst>
      <p:ext uri="{BB962C8B-B14F-4D97-AF65-F5344CB8AC3E}">
        <p14:creationId xmlns:p14="http://schemas.microsoft.com/office/powerpoint/2010/main" val="3082463949"/>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457200" marR="0" lvl="1" indent="0" algn="l" defTabSz="914400" rtl="0" eaLnBrk="1" fontAlgn="auto" latinLnBrk="0" hangingPunct="1">
              <a:lnSpc>
                <a:spcPct val="90000"/>
              </a:lnSpc>
              <a:spcBef>
                <a:spcPts val="0"/>
              </a:spcBef>
              <a:spcAft>
                <a:spcPts val="0"/>
              </a:spcAft>
              <a:buClrTx/>
              <a:buSzTx/>
              <a:buFont typeface="Wingdings" pitchFamily="2" charset="2"/>
              <a:buChar char="v"/>
              <a:tabLst/>
              <a:defRPr/>
            </a:pPr>
            <a:r>
              <a:rPr lang="en-US" sz="1700" dirty="0"/>
              <a:t>Speaker </a:t>
            </a:r>
            <a:r>
              <a:rPr lang="en-US" sz="1700" dirty="0" err="1"/>
              <a:t>notes:</a:t>
            </a:r>
            <a:r>
              <a:rPr lang="en-US" sz="1200" kern="1200" dirty="0" err="1">
                <a:solidFill>
                  <a:schemeClr val="tx1"/>
                </a:solidFill>
                <a:effectLst/>
                <a:latin typeface="+mn-lt"/>
                <a:ea typeface="+mn-ea"/>
                <a:cs typeface="+mn-cs"/>
              </a:rPr>
              <a:t>The</a:t>
            </a:r>
            <a:r>
              <a:rPr lang="en-US" sz="1200" kern="1200" dirty="0">
                <a:solidFill>
                  <a:schemeClr val="tx1"/>
                </a:solidFill>
                <a:effectLst/>
                <a:latin typeface="+mn-lt"/>
                <a:ea typeface="+mn-ea"/>
                <a:cs typeface="+mn-cs"/>
              </a:rPr>
              <a:t> target variable in this project is ICU length of stay. To make the prediction task easier to model, length of stay is divided into three categories. A short stay is defined as less than 2 days, a medium stay is 2 to 7 days, and a long stay is more than 7 days. This converts the problem from predicting an exact number of days into a multiclass classification task. These categories make the results easier to interpret and explain in a tutorial setting.</a:t>
            </a:r>
          </a:p>
          <a:p>
            <a:pPr lvl="1">
              <a:lnSpc>
                <a:spcPct val="90000"/>
              </a:lnSpc>
              <a:buFont typeface="Wingdings" pitchFamily="2" charset="2"/>
              <a:buChar char="v"/>
            </a:pPr>
            <a:endParaRPr lang="en-US" dirty="0"/>
          </a:p>
        </p:txBody>
      </p:sp>
      <p:sp>
        <p:nvSpPr>
          <p:cNvPr id="4" name="Slide Number Placeholder 3"/>
          <p:cNvSpPr>
            <a:spLocks noGrp="1"/>
          </p:cNvSpPr>
          <p:nvPr>
            <p:ph type="sldNum" sz="quarter" idx="5"/>
          </p:nvPr>
        </p:nvSpPr>
        <p:spPr/>
        <p:txBody>
          <a:bodyPr/>
          <a:lstStyle/>
          <a:p>
            <a:fld id="{BCD9374F-9954-F24E-8880-8CA162CE8CFB}" type="slidenum">
              <a:rPr lang="en-US" smtClean="0"/>
              <a:t>8</a:t>
            </a:fld>
            <a:endParaRPr lang="en-US"/>
          </a:p>
        </p:txBody>
      </p:sp>
    </p:spTree>
    <p:extLst>
      <p:ext uri="{BB962C8B-B14F-4D97-AF65-F5344CB8AC3E}">
        <p14:creationId xmlns:p14="http://schemas.microsoft.com/office/powerpoint/2010/main" val="334947105"/>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1">
              <a:buFont typeface="Wingdings" pitchFamily="2" charset="2"/>
              <a:buChar char="v"/>
            </a:pPr>
            <a:r>
              <a:rPr lang="en-US" sz="1700" dirty="0"/>
              <a:t>Speaker notes:</a:t>
            </a:r>
          </a:p>
          <a:p>
            <a:pPr lvl="1">
              <a:buFont typeface="Wingdings" pitchFamily="2" charset="2"/>
              <a:buChar char="v"/>
            </a:pPr>
            <a:endParaRPr lang="en-US" sz="1700" dirty="0"/>
          </a:p>
          <a:p>
            <a:pPr marL="457200" marR="0" lvl="1" indent="0" algn="l" defTabSz="914400" rtl="0" eaLnBrk="1" fontAlgn="auto" latinLnBrk="0" hangingPunct="1">
              <a:lnSpc>
                <a:spcPct val="100000"/>
              </a:lnSpc>
              <a:spcBef>
                <a:spcPts val="0"/>
              </a:spcBef>
              <a:spcAft>
                <a:spcPts val="0"/>
              </a:spcAft>
              <a:buClrTx/>
              <a:buSzTx/>
              <a:buFont typeface="Wingdings" pitchFamily="2" charset="2"/>
              <a:buChar char="v"/>
              <a:tabLst/>
              <a:defRPr/>
            </a:pPr>
            <a:r>
              <a:rPr lang="en-US" sz="1200" kern="1200" dirty="0">
                <a:solidFill>
                  <a:schemeClr val="tx1"/>
                </a:solidFill>
                <a:effectLst/>
                <a:latin typeface="+mn-lt"/>
                <a:ea typeface="+mn-ea"/>
                <a:cs typeface="+mn-cs"/>
              </a:rPr>
              <a:t>This slide summarizes the main steps in the machine learning pipeline. The dataset is first divided into training and test sets so model performance can be evaluated fairly. Missing values are handled with imputation, categorical variables are transformed using one-hot encoding, and numeric features are scaled when needed. After preprocessing, Logistic Regression is used as a baseline model and Random Forest is used as a more flexible model. Comparing these models helps show how different machine learning methods perform on the same healthcare prediction task.</a:t>
            </a:r>
          </a:p>
          <a:p>
            <a:pPr lvl="1">
              <a:buFont typeface="Wingdings" pitchFamily="2" charset="2"/>
              <a:buChar char="v"/>
            </a:pPr>
            <a:endParaRPr lang="en-US" dirty="0"/>
          </a:p>
        </p:txBody>
      </p:sp>
      <p:sp>
        <p:nvSpPr>
          <p:cNvPr id="4" name="Slide Number Placeholder 3"/>
          <p:cNvSpPr>
            <a:spLocks noGrp="1"/>
          </p:cNvSpPr>
          <p:nvPr>
            <p:ph type="sldNum" sz="quarter" idx="5"/>
          </p:nvPr>
        </p:nvSpPr>
        <p:spPr/>
        <p:txBody>
          <a:bodyPr/>
          <a:lstStyle/>
          <a:p>
            <a:fld id="{BCD9374F-9954-F24E-8880-8CA162CE8CFB}" type="slidenum">
              <a:rPr lang="en-US" smtClean="0"/>
              <a:t>9</a:t>
            </a:fld>
            <a:endParaRPr lang="en-US"/>
          </a:p>
        </p:txBody>
      </p:sp>
    </p:spTree>
    <p:extLst>
      <p:ext uri="{BB962C8B-B14F-4D97-AF65-F5344CB8AC3E}">
        <p14:creationId xmlns:p14="http://schemas.microsoft.com/office/powerpoint/2010/main" val="514517786"/>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1">
              <a:buFont typeface="Wingdings" pitchFamily="2" charset="2"/>
              <a:buChar char="v"/>
            </a:pPr>
            <a:r>
              <a:rPr lang="en-US" sz="1600" dirty="0"/>
              <a:t>Speaker notes:</a:t>
            </a:r>
          </a:p>
          <a:p>
            <a:pPr lvl="1">
              <a:buFont typeface="Wingdings" pitchFamily="2" charset="2"/>
              <a:buChar char="v"/>
            </a:pPr>
            <a:endParaRPr lang="en-US" sz="1600" dirty="0"/>
          </a:p>
          <a:p>
            <a:r>
              <a:rPr lang="en-US" sz="1200" kern="1200" dirty="0">
                <a:solidFill>
                  <a:schemeClr val="tx1"/>
                </a:solidFill>
                <a:effectLst/>
                <a:latin typeface="+mn-lt"/>
                <a:ea typeface="+mn-ea"/>
                <a:cs typeface="+mn-cs"/>
              </a:rPr>
              <a:t>This slide presents the performance of the baseline Logistic Regression model. Accuracy shows the overall proportion of correct predictions made by the model. Precision, recall, and F1-score help evaluate how well the model performs across the short, medium, and long stay classes.</a:t>
            </a:r>
          </a:p>
          <a:p>
            <a:r>
              <a:rPr lang="en-US" sz="1200" kern="1200" dirty="0">
                <a:solidFill>
                  <a:schemeClr val="tx1"/>
                </a:solidFill>
                <a:effectLst/>
                <a:latin typeface="+mn-lt"/>
                <a:ea typeface="+mn-ea"/>
                <a:cs typeface="+mn-cs"/>
              </a:rPr>
              <a:t>The confusion matrix gives a visual summary of correct classifications and misclassifications.</a:t>
            </a:r>
          </a:p>
          <a:p>
            <a:r>
              <a:rPr lang="en-US" sz="1200" kern="1200" dirty="0">
                <a:solidFill>
                  <a:schemeClr val="tx1"/>
                </a:solidFill>
                <a:effectLst/>
                <a:latin typeface="+mn-lt"/>
                <a:ea typeface="+mn-ea"/>
                <a:cs typeface="+mn-cs"/>
              </a:rPr>
              <a:t>These results provide a baseline for comparing Logistic Regression with the Random Forest model.</a:t>
            </a:r>
          </a:p>
          <a:p>
            <a:pPr lvl="1">
              <a:buFont typeface="Wingdings" pitchFamily="2" charset="2"/>
              <a:buChar char="v"/>
            </a:pPr>
            <a:endParaRPr lang="en-US" dirty="0"/>
          </a:p>
        </p:txBody>
      </p:sp>
      <p:sp>
        <p:nvSpPr>
          <p:cNvPr id="4" name="Slide Number Placeholder 3"/>
          <p:cNvSpPr>
            <a:spLocks noGrp="1"/>
          </p:cNvSpPr>
          <p:nvPr>
            <p:ph type="sldNum" sz="quarter" idx="5"/>
          </p:nvPr>
        </p:nvSpPr>
        <p:spPr/>
        <p:txBody>
          <a:bodyPr/>
          <a:lstStyle/>
          <a:p>
            <a:fld id="{BCD9374F-9954-F24E-8880-8CA162CE8CFB}" type="slidenum">
              <a:rPr lang="en-US" smtClean="0"/>
              <a:t>10</a:t>
            </a:fld>
            <a:endParaRPr lang="en-US"/>
          </a:p>
        </p:txBody>
      </p:sp>
    </p:spTree>
    <p:extLst>
      <p:ext uri="{BB962C8B-B14F-4D97-AF65-F5344CB8AC3E}">
        <p14:creationId xmlns:p14="http://schemas.microsoft.com/office/powerpoint/2010/main" val="428227012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457200" lvl="1" indent="0">
              <a:buNone/>
            </a:pPr>
            <a:r>
              <a:rPr lang="en-US" sz="1600" dirty="0"/>
              <a:t>Speaker notes:</a:t>
            </a:r>
          </a:p>
          <a:p>
            <a:pPr marL="457200" lvl="1" indent="0">
              <a:buNone/>
            </a:pPr>
            <a:endParaRPr lang="en-US" sz="1600" dirty="0"/>
          </a:p>
          <a:p>
            <a:r>
              <a:rPr lang="en-US" sz="1200" kern="1200" dirty="0">
                <a:solidFill>
                  <a:schemeClr val="tx1"/>
                </a:solidFill>
                <a:effectLst/>
                <a:latin typeface="+mn-lt"/>
                <a:ea typeface="+mn-ea"/>
                <a:cs typeface="+mn-cs"/>
              </a:rPr>
              <a:t>This slide shows the evaluation results for the Random Forest model, which is the tree-based approach used in this project. Accuracy measures the overall percentage of correct predictions across the ICU length-of-stay categories. Precision, recall, and F1-score provide a more complete view of how well the model performs for each class. The confusion matrix helps visualize where the Random Forest model predicts correctly and where misclassifications occur.</a:t>
            </a:r>
          </a:p>
          <a:p>
            <a:r>
              <a:rPr lang="en-US" sz="1200" kern="1200" dirty="0">
                <a:solidFill>
                  <a:schemeClr val="tx1"/>
                </a:solidFill>
                <a:effectLst/>
                <a:latin typeface="+mn-lt"/>
                <a:ea typeface="+mn-ea"/>
                <a:cs typeface="+mn-cs"/>
              </a:rPr>
              <a:t>Comparing these results with Logistic Regression helps determine whether the tree-based model performs better on this task.</a:t>
            </a:r>
          </a:p>
          <a:p>
            <a:pPr marL="457200" lvl="1" indent="0">
              <a:buNone/>
            </a:pPr>
            <a:endParaRPr lang="en-US" dirty="0"/>
          </a:p>
        </p:txBody>
      </p:sp>
      <p:sp>
        <p:nvSpPr>
          <p:cNvPr id="4" name="Slide Number Placeholder 3"/>
          <p:cNvSpPr>
            <a:spLocks noGrp="1"/>
          </p:cNvSpPr>
          <p:nvPr>
            <p:ph type="sldNum" sz="quarter" idx="5"/>
          </p:nvPr>
        </p:nvSpPr>
        <p:spPr/>
        <p:txBody>
          <a:bodyPr/>
          <a:lstStyle/>
          <a:p>
            <a:fld id="{BCD9374F-9954-F24E-8880-8CA162CE8CFB}" type="slidenum">
              <a:rPr lang="en-US" smtClean="0"/>
              <a:t>11</a:t>
            </a:fld>
            <a:endParaRPr lang="en-US"/>
          </a:p>
        </p:txBody>
      </p:sp>
    </p:spTree>
    <p:extLst>
      <p:ext uri="{BB962C8B-B14F-4D97-AF65-F5344CB8AC3E}">
        <p14:creationId xmlns:p14="http://schemas.microsoft.com/office/powerpoint/2010/main" val="2303810035"/>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kern="1200" dirty="0">
                <a:solidFill>
                  <a:schemeClr val="tx1"/>
                </a:solidFill>
                <a:effectLst/>
                <a:latin typeface="+mn-lt"/>
                <a:ea typeface="+mn-ea"/>
                <a:cs typeface="+mn-cs"/>
              </a:rPr>
              <a:t>This slide explains why the confusion matrix is an important evaluation tool in this project.</a:t>
            </a:r>
          </a:p>
          <a:p>
            <a:r>
              <a:rPr lang="en-US" sz="1200" kern="1200" dirty="0">
                <a:solidFill>
                  <a:schemeClr val="tx1"/>
                </a:solidFill>
                <a:effectLst/>
                <a:latin typeface="+mn-lt"/>
                <a:ea typeface="+mn-ea"/>
                <a:cs typeface="+mn-cs"/>
              </a:rPr>
              <a:t>It shows which ICU length-of-stay categories are predicted correctly by the model.</a:t>
            </a:r>
          </a:p>
          <a:p>
            <a:r>
              <a:rPr lang="en-US" sz="1200" kern="1200" dirty="0">
                <a:solidFill>
                  <a:schemeClr val="tx1"/>
                </a:solidFill>
                <a:effectLst/>
                <a:latin typeface="+mn-lt"/>
                <a:ea typeface="+mn-ea"/>
                <a:cs typeface="+mn-cs"/>
              </a:rPr>
              <a:t>It also highlights which classes are commonly confused with one another during prediction.</a:t>
            </a:r>
          </a:p>
          <a:p>
            <a:r>
              <a:rPr lang="en-US" sz="1200" kern="1200" dirty="0">
                <a:solidFill>
                  <a:schemeClr val="tx1"/>
                </a:solidFill>
                <a:effectLst/>
                <a:latin typeface="+mn-lt"/>
                <a:ea typeface="+mn-ea"/>
                <a:cs typeface="+mn-cs"/>
              </a:rPr>
              <a:t>In this task, the model may struggle more when distinguishing medium stays from long stays.</a:t>
            </a:r>
          </a:p>
          <a:p>
            <a:r>
              <a:rPr lang="en-US" sz="1200" kern="1200" dirty="0">
                <a:solidFill>
                  <a:schemeClr val="tx1"/>
                </a:solidFill>
                <a:effectLst/>
                <a:latin typeface="+mn-lt"/>
                <a:ea typeface="+mn-ea"/>
                <a:cs typeface="+mn-cs"/>
              </a:rPr>
              <a:t>This makes the confusion matrix useful for understanding model strengths and weaknesses beyond overall accuracy.</a:t>
            </a:r>
          </a:p>
          <a:p>
            <a:endParaRPr lang="en-US" dirty="0"/>
          </a:p>
        </p:txBody>
      </p:sp>
      <p:sp>
        <p:nvSpPr>
          <p:cNvPr id="4" name="Slide Number Placeholder 3"/>
          <p:cNvSpPr>
            <a:spLocks noGrp="1"/>
          </p:cNvSpPr>
          <p:nvPr>
            <p:ph type="sldNum" sz="quarter" idx="5"/>
          </p:nvPr>
        </p:nvSpPr>
        <p:spPr/>
        <p:txBody>
          <a:bodyPr/>
          <a:lstStyle/>
          <a:p>
            <a:fld id="{BCD9374F-9954-F24E-8880-8CA162CE8CFB}" type="slidenum">
              <a:rPr lang="en-US" smtClean="0"/>
              <a:t>12</a:t>
            </a:fld>
            <a:endParaRPr lang="en-US"/>
          </a:p>
        </p:txBody>
      </p:sp>
    </p:spTree>
    <p:extLst>
      <p:ext uri="{BB962C8B-B14F-4D97-AF65-F5344CB8AC3E}">
        <p14:creationId xmlns:p14="http://schemas.microsoft.com/office/powerpoint/2010/main" val="68915873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457200" lvl="1" indent="0">
              <a:lnSpc>
                <a:spcPct val="90000"/>
              </a:lnSpc>
              <a:buNone/>
            </a:pPr>
            <a:endParaRPr lang="en-US" sz="1400" dirty="0"/>
          </a:p>
          <a:p>
            <a:pPr lvl="1">
              <a:lnSpc>
                <a:spcPct val="90000"/>
              </a:lnSpc>
              <a:buFont typeface="Wingdings" pitchFamily="2" charset="2"/>
              <a:buChar char="v"/>
            </a:pPr>
            <a:r>
              <a:rPr lang="en-US" sz="1400" dirty="0"/>
              <a:t>Speaker notes:</a:t>
            </a:r>
          </a:p>
          <a:p>
            <a:pPr lvl="1">
              <a:lnSpc>
                <a:spcPct val="90000"/>
              </a:lnSpc>
              <a:buFont typeface="Wingdings" pitchFamily="2" charset="2"/>
              <a:buChar char="v"/>
            </a:pPr>
            <a:endParaRPr lang="en-US" sz="1400" dirty="0"/>
          </a:p>
          <a:p>
            <a:r>
              <a:rPr lang="en-US" sz="1200" kern="1200" dirty="0">
                <a:solidFill>
                  <a:schemeClr val="tx1"/>
                </a:solidFill>
                <a:effectLst/>
                <a:latin typeface="+mn-lt"/>
                <a:ea typeface="+mn-ea"/>
                <a:cs typeface="+mn-cs"/>
              </a:rPr>
              <a:t>This slide summarizes the main findings from the modeling process. The results from Logistic Regression and Random Forest are compared to identify the best-performing model.</a:t>
            </a:r>
          </a:p>
          <a:p>
            <a:r>
              <a:rPr lang="en-US" sz="1200" kern="1200" dirty="0">
                <a:solidFill>
                  <a:schemeClr val="tx1"/>
                </a:solidFill>
                <a:effectLst/>
                <a:latin typeface="+mn-lt"/>
                <a:ea typeface="+mn-ea"/>
                <a:cs typeface="+mn-cs"/>
              </a:rPr>
              <a:t>It also highlights which structured features appear to be the most useful predictors of ICU length of stay. These findings help interpret how patient and admission characteristics relate to short, medium, or long stays. Overall, the results show that structured EHR data can be used to support healthcare prediction tasks.</a:t>
            </a:r>
          </a:p>
          <a:p>
            <a:pPr lvl="1">
              <a:lnSpc>
                <a:spcPct val="90000"/>
              </a:lnSpc>
              <a:buFont typeface="Wingdings" pitchFamily="2" charset="2"/>
              <a:buChar char="v"/>
            </a:pPr>
            <a:endParaRPr lang="en-US" dirty="0"/>
          </a:p>
        </p:txBody>
      </p:sp>
      <p:sp>
        <p:nvSpPr>
          <p:cNvPr id="4" name="Slide Number Placeholder 3"/>
          <p:cNvSpPr>
            <a:spLocks noGrp="1"/>
          </p:cNvSpPr>
          <p:nvPr>
            <p:ph type="sldNum" sz="quarter" idx="5"/>
          </p:nvPr>
        </p:nvSpPr>
        <p:spPr/>
        <p:txBody>
          <a:bodyPr/>
          <a:lstStyle/>
          <a:p>
            <a:fld id="{BCD9374F-9954-F24E-8880-8CA162CE8CFB}" type="slidenum">
              <a:rPr lang="en-US" smtClean="0"/>
              <a:t>13</a:t>
            </a:fld>
            <a:endParaRPr lang="en-US"/>
          </a:p>
        </p:txBody>
      </p:sp>
    </p:spTree>
    <p:extLst>
      <p:ext uri="{BB962C8B-B14F-4D97-AF65-F5344CB8AC3E}">
        <p14:creationId xmlns:p14="http://schemas.microsoft.com/office/powerpoint/2010/main" val="888484719"/>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kern="1200" dirty="0">
                <a:solidFill>
                  <a:schemeClr val="tx1"/>
                </a:solidFill>
                <a:effectLst/>
                <a:latin typeface="+mn-lt"/>
                <a:ea typeface="+mn-ea"/>
                <a:cs typeface="+mn-cs"/>
              </a:rPr>
              <a:t> </a:t>
            </a:r>
          </a:p>
          <a:p>
            <a:r>
              <a:rPr lang="en-US" sz="1200" kern="1200" dirty="0">
                <a:solidFill>
                  <a:schemeClr val="tx1"/>
                </a:solidFill>
                <a:effectLst/>
                <a:latin typeface="+mn-lt"/>
                <a:ea typeface="+mn-ea"/>
                <a:cs typeface="+mn-cs"/>
              </a:rPr>
              <a:t>This slide explains both the limitations of the project and how another learner can reproduce it.</a:t>
            </a:r>
          </a:p>
          <a:p>
            <a:r>
              <a:rPr lang="en-US" sz="1200" kern="1200" dirty="0">
                <a:solidFill>
                  <a:schemeClr val="tx1"/>
                </a:solidFill>
                <a:effectLst/>
                <a:latin typeface="+mn-lt"/>
                <a:ea typeface="+mn-ea"/>
                <a:cs typeface="+mn-cs"/>
              </a:rPr>
              <a:t>The main limitations are that the analysis uses a single dataset, defines diabetes using diagnosis codes, and relies on a simple structured feature set. Because of these design choices, the project is intended for educational use and not for real clinical deployment. To replicate the work, a learner should first load the cohort file and then run the notebook cells in order. Following the notebook step by step should reproduce the same preprocessing, charts, metrics, and overall results.</a:t>
            </a:r>
          </a:p>
          <a:p>
            <a:endParaRPr lang="en-US" dirty="0"/>
          </a:p>
        </p:txBody>
      </p:sp>
      <p:sp>
        <p:nvSpPr>
          <p:cNvPr id="4" name="Slide Number Placeholder 3"/>
          <p:cNvSpPr>
            <a:spLocks noGrp="1"/>
          </p:cNvSpPr>
          <p:nvPr>
            <p:ph type="sldNum" sz="quarter" idx="5"/>
          </p:nvPr>
        </p:nvSpPr>
        <p:spPr/>
        <p:txBody>
          <a:bodyPr/>
          <a:lstStyle/>
          <a:p>
            <a:fld id="{BCD9374F-9954-F24E-8880-8CA162CE8CFB}" type="slidenum">
              <a:rPr lang="en-US" smtClean="0"/>
              <a:t>14</a:t>
            </a:fld>
            <a:endParaRPr lang="en-US"/>
          </a:p>
        </p:txBody>
      </p:sp>
    </p:spTree>
    <p:extLst>
      <p:ext uri="{BB962C8B-B14F-4D97-AF65-F5344CB8AC3E}">
        <p14:creationId xmlns:p14="http://schemas.microsoft.com/office/powerpoint/2010/main" val="3517858268"/>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3/13/26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3/13/26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3/13/26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3/13/26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3/13/26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3/13/26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3/13/26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3/13/26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3/13/26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3/13/26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3/13/26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3/13/26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notesSlide" Target="../notesSlides/notesSlide4.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7.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5.xml"/><Relationship Id="rId1" Type="http://schemas.openxmlformats.org/officeDocument/2006/relationships/slideLayout" Target="../slideLayouts/slideLayout2.xml"/><Relationship Id="rId4" Type="http://schemas.openxmlformats.org/officeDocument/2006/relationships/image" Target="../media/image2.jpeg"/></Relationships>
</file>

<file path=ppt/slides/_rels/slide8.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notesSlide" Target="../notesSlides/notesSlide6.xml"/><Relationship Id="rId1" Type="http://schemas.openxmlformats.org/officeDocument/2006/relationships/slideLayout" Target="../slideLayouts/slideLayout2.xml"/><Relationship Id="rId4" Type="http://schemas.openxmlformats.org/officeDocument/2006/relationships/image" Target="../media/image5.png"/></Relationships>
</file>

<file path=ppt/slides/_rels/slide9.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7.xml"/><Relationship Id="rId1" Type="http://schemas.openxmlformats.org/officeDocument/2006/relationships/slideLayout" Target="../slideLayouts/slideLayout2.xml"/><Relationship Id="rId4" Type="http://schemas.openxmlformats.org/officeDocument/2006/relationships/image" Target="../media/image2.jpeg"/></Relationships>
</file>

<file path=ppt/slides/_rels/slide10.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1.xml"/><Relationship Id="rId1" Type="http://schemas.openxmlformats.org/officeDocument/2006/relationships/slideLayout" Target="../slideLayouts/slideLayout2.xml"/><Relationship Id="rId4" Type="http://schemas.openxmlformats.org/officeDocument/2006/relationships/image" Target="../media/image11.png"/></Relationships>
</file>

<file path=ppt/slides/_rels/slide14.xml.rels><?xml version="1.0" encoding="UTF-8" standalone="yes"?>
<Relationships xmlns="http://schemas.openxmlformats.org/package/2006/relationships"><Relationship Id="rId8" Type="http://schemas.microsoft.com/office/2007/relationships/diagramDrawing" Target="../diagrams/drawing1.xml"/><Relationship Id="rId3" Type="http://schemas.openxmlformats.org/officeDocument/2006/relationships/image" Target="../media/image2.jpeg"/><Relationship Id="rId7" Type="http://schemas.openxmlformats.org/officeDocument/2006/relationships/diagramColors" Target="../diagrams/colors1.xml"/><Relationship Id="rId2" Type="http://schemas.openxmlformats.org/officeDocument/2006/relationships/notesSlide" Target="../notesSlides/notesSlide12.xml"/><Relationship Id="rId1" Type="http://schemas.openxmlformats.org/officeDocument/2006/relationships/slideLayout" Target="../slideLayouts/slideLayout2.xml"/><Relationship Id="rId6" Type="http://schemas.openxmlformats.org/officeDocument/2006/relationships/diagramQuickStyle" Target="../diagrams/quickStyle1.xml"/><Relationship Id="rId5" Type="http://schemas.openxmlformats.org/officeDocument/2006/relationships/diagramLayout" Target="../diagrams/layout1.xml"/><Relationship Id="rId4" Type="http://schemas.openxmlformats.org/officeDocument/2006/relationships/diagramData" Target="../diagrams/data1.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9B7AD9F6-8CE7-4299-8FC6-328F4DCD3FF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141714"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ctrTitle"/>
          </p:nvPr>
        </p:nvSpPr>
        <p:spPr>
          <a:xfrm>
            <a:off x="3973321" y="640080"/>
            <a:ext cx="4688333" cy="3566160"/>
          </a:xfrm>
        </p:spPr>
        <p:txBody>
          <a:bodyPr anchor="b">
            <a:normAutofit fontScale="90000"/>
          </a:bodyPr>
          <a:lstStyle/>
          <a:p>
            <a:pPr algn="l">
              <a:lnSpc>
                <a:spcPct val="90000"/>
              </a:lnSpc>
            </a:pPr>
            <a:r>
              <a:rPr lang="en-US" sz="4700" b="1" i="1" dirty="0">
                <a:latin typeface="Calibri" pitchFamily="34" charset="0"/>
                <a:cs typeface="Calibri" pitchFamily="34" charset="-120"/>
              </a:rPr>
              <a:t>Predicting ICU Length of Stay in Diabetic Patients Using MIMIC-III and Machine Learning</a:t>
            </a:r>
          </a:p>
        </p:txBody>
      </p:sp>
      <p:sp>
        <p:nvSpPr>
          <p:cNvPr id="3" name="Subtitle 2"/>
          <p:cNvSpPr>
            <a:spLocks noGrp="1"/>
          </p:cNvSpPr>
          <p:nvPr>
            <p:ph type="subTitle" idx="1"/>
          </p:nvPr>
        </p:nvSpPr>
        <p:spPr>
          <a:xfrm>
            <a:off x="3973320" y="4636008"/>
            <a:ext cx="4688333" cy="1572768"/>
          </a:xfrm>
        </p:spPr>
        <p:txBody>
          <a:bodyPr>
            <a:normAutofit/>
          </a:bodyPr>
          <a:lstStyle/>
          <a:p>
            <a:pPr algn="l">
              <a:lnSpc>
                <a:spcPct val="90000"/>
              </a:lnSpc>
            </a:pPr>
            <a:r>
              <a:rPr lang="en-US" sz="2500" i="1" dirty="0"/>
              <a:t>Healthcare Research &amp; Quality Improvement Study</a:t>
            </a:r>
          </a:p>
          <a:p>
            <a:pPr algn="l">
              <a:lnSpc>
                <a:spcPct val="90000"/>
              </a:lnSpc>
            </a:pPr>
            <a:r>
              <a:rPr lang="en-US" sz="2500" i="1" dirty="0"/>
              <a:t>Data: Google: MIMIC-III</a:t>
            </a:r>
          </a:p>
        </p:txBody>
      </p:sp>
      <p:pic>
        <p:nvPicPr>
          <p:cNvPr id="5" name="Picture 4" descr="Sample being pipetted into a petri dish">
            <a:extLst>
              <a:ext uri="{FF2B5EF4-FFF2-40B4-BE49-F238E27FC236}">
                <a16:creationId xmlns:a16="http://schemas.microsoft.com/office/drawing/2014/main" id="{99887866-A617-BC43-7942-6441807FCA81}"/>
              </a:ext>
            </a:extLst>
          </p:cNvPr>
          <p:cNvPicPr>
            <a:picLocks noChangeAspect="1"/>
          </p:cNvPicPr>
          <p:nvPr/>
        </p:nvPicPr>
        <p:blipFill>
          <a:blip r:embed="rId2"/>
          <a:srcRect l="49741" r="12186" b="-2"/>
          <a:stretch>
            <a:fillRect/>
          </a:stretch>
        </p:blipFill>
        <p:spPr>
          <a:xfrm>
            <a:off x="20" y="10"/>
            <a:ext cx="3492988" cy="6857990"/>
          </a:xfrm>
          <a:custGeom>
            <a:avLst/>
            <a:gdLst/>
            <a:ahLst/>
            <a:cxnLst/>
            <a:rect l="l" t="t" r="r" b="b"/>
            <a:pathLst>
              <a:path w="4657344" h="6858000">
                <a:moveTo>
                  <a:pt x="0" y="0"/>
                </a:moveTo>
                <a:lnTo>
                  <a:pt x="3429755" y="0"/>
                </a:lnTo>
                <a:lnTo>
                  <a:pt x="3526016" y="148742"/>
                </a:lnTo>
                <a:cubicBezTo>
                  <a:pt x="3657740" y="365513"/>
                  <a:pt x="3777402" y="589569"/>
                  <a:pt x="3886489" y="819975"/>
                </a:cubicBezTo>
                <a:cubicBezTo>
                  <a:pt x="3891856" y="833492"/>
                  <a:pt x="3900663" y="845393"/>
                  <a:pt x="3912049" y="854514"/>
                </a:cubicBezTo>
                <a:cubicBezTo>
                  <a:pt x="3897352" y="819849"/>
                  <a:pt x="3883037" y="784928"/>
                  <a:pt x="3868083" y="750263"/>
                </a:cubicBezTo>
                <a:cubicBezTo>
                  <a:pt x="3806989" y="608712"/>
                  <a:pt x="3742478" y="469145"/>
                  <a:pt x="3674155" y="331786"/>
                </a:cubicBezTo>
                <a:lnTo>
                  <a:pt x="3496656" y="0"/>
                </a:lnTo>
                <a:lnTo>
                  <a:pt x="3554371" y="0"/>
                </a:lnTo>
                <a:lnTo>
                  <a:pt x="3661621" y="196614"/>
                </a:lnTo>
                <a:cubicBezTo>
                  <a:pt x="3856899" y="573253"/>
                  <a:pt x="4021071" y="966066"/>
                  <a:pt x="4161279" y="1371196"/>
                </a:cubicBezTo>
                <a:cubicBezTo>
                  <a:pt x="4379525" y="2007265"/>
                  <a:pt x="4530141" y="2664286"/>
                  <a:pt x="4610660" y="3331516"/>
                </a:cubicBezTo>
                <a:cubicBezTo>
                  <a:pt x="4652837" y="3672965"/>
                  <a:pt x="4671625" y="4013908"/>
                  <a:pt x="4645040" y="4357388"/>
                </a:cubicBezTo>
                <a:cubicBezTo>
                  <a:pt x="4613599" y="4758899"/>
                  <a:pt x="4566181" y="5157998"/>
                  <a:pt x="4485789" y="5552906"/>
                </a:cubicBezTo>
                <a:cubicBezTo>
                  <a:pt x="4397121" y="5988893"/>
                  <a:pt x="4276748" y="6414594"/>
                  <a:pt x="4117769" y="6828295"/>
                </a:cubicBezTo>
                <a:lnTo>
                  <a:pt x="4105288" y="6858000"/>
                </a:lnTo>
                <a:lnTo>
                  <a:pt x="4052520" y="6858000"/>
                </a:lnTo>
                <a:lnTo>
                  <a:pt x="4059369" y="6841549"/>
                </a:lnTo>
                <a:cubicBezTo>
                  <a:pt x="4147276" y="6614016"/>
                  <a:pt x="4224193" y="6380817"/>
                  <a:pt x="4291518" y="6142729"/>
                </a:cubicBezTo>
                <a:cubicBezTo>
                  <a:pt x="4350055" y="5935370"/>
                  <a:pt x="4393256" y="5723695"/>
                  <a:pt x="4443357" y="5513923"/>
                </a:cubicBezTo>
                <a:cubicBezTo>
                  <a:pt x="4444541" y="5502788"/>
                  <a:pt x="4445137" y="5491601"/>
                  <a:pt x="4445146" y="5480401"/>
                </a:cubicBezTo>
                <a:cubicBezTo>
                  <a:pt x="4408465" y="5607635"/>
                  <a:pt x="4379196" y="5719759"/>
                  <a:pt x="4344559" y="5830359"/>
                </a:cubicBezTo>
                <a:cubicBezTo>
                  <a:pt x="4254261" y="6118381"/>
                  <a:pt x="4150112" y="6398531"/>
                  <a:pt x="4031702" y="6670527"/>
                </a:cubicBezTo>
                <a:lnTo>
                  <a:pt x="3943824" y="6858000"/>
                </a:lnTo>
                <a:lnTo>
                  <a:pt x="0" y="6858000"/>
                </a:lnTo>
                <a:close/>
              </a:path>
            </a:pathLst>
          </a:custGeom>
        </p:spPr>
      </p:pic>
      <p:sp>
        <p:nvSpPr>
          <p:cNvPr id="11" name="sketchy line">
            <a:extLst>
              <a:ext uri="{FF2B5EF4-FFF2-40B4-BE49-F238E27FC236}">
                <a16:creationId xmlns:a16="http://schemas.microsoft.com/office/drawing/2014/main" id="{F49775AF-8896-43EE-92C6-83497D6DC56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059646" y="4409267"/>
            <a:ext cx="3182692" cy="18288"/>
          </a:xfrm>
          <a:custGeom>
            <a:avLst/>
            <a:gdLst>
              <a:gd name="csX0" fmla="*/ 0 w 3182692"/>
              <a:gd name="csY0" fmla="*/ 0 h 18288"/>
              <a:gd name="csX1" fmla="*/ 604711 w 3182692"/>
              <a:gd name="csY1" fmla="*/ 0 h 18288"/>
              <a:gd name="csX2" fmla="*/ 1241250 w 3182692"/>
              <a:gd name="csY2" fmla="*/ 0 h 18288"/>
              <a:gd name="csX3" fmla="*/ 1909615 w 3182692"/>
              <a:gd name="csY3" fmla="*/ 0 h 18288"/>
              <a:gd name="csX4" fmla="*/ 2577981 w 3182692"/>
              <a:gd name="csY4" fmla="*/ 0 h 18288"/>
              <a:gd name="csX5" fmla="*/ 3182692 w 3182692"/>
              <a:gd name="csY5" fmla="*/ 0 h 18288"/>
              <a:gd name="csX6" fmla="*/ 3182692 w 3182692"/>
              <a:gd name="csY6" fmla="*/ 18288 h 18288"/>
              <a:gd name="csX7" fmla="*/ 2482500 w 3182692"/>
              <a:gd name="csY7" fmla="*/ 18288 h 18288"/>
              <a:gd name="csX8" fmla="*/ 1782308 w 3182692"/>
              <a:gd name="csY8" fmla="*/ 18288 h 18288"/>
              <a:gd name="csX9" fmla="*/ 1145769 w 3182692"/>
              <a:gd name="csY9" fmla="*/ 18288 h 18288"/>
              <a:gd name="csX10" fmla="*/ 0 w 3182692"/>
              <a:gd name="csY10" fmla="*/ 18288 h 18288"/>
              <a:gd name="csX11" fmla="*/ 0 w 3182692"/>
              <a:gd name="csY11"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3182692" h="18288" fill="none" extrusionOk="0">
                <a:moveTo>
                  <a:pt x="0" y="0"/>
                </a:moveTo>
                <a:cubicBezTo>
                  <a:pt x="126686" y="-21366"/>
                  <a:pt x="467788" y="9025"/>
                  <a:pt x="604711" y="0"/>
                </a:cubicBezTo>
                <a:cubicBezTo>
                  <a:pt x="741634" y="-9025"/>
                  <a:pt x="1061620" y="6814"/>
                  <a:pt x="1241250" y="0"/>
                </a:cubicBezTo>
                <a:cubicBezTo>
                  <a:pt x="1420880" y="-6814"/>
                  <a:pt x="1713773" y="13383"/>
                  <a:pt x="1909615" y="0"/>
                </a:cubicBezTo>
                <a:cubicBezTo>
                  <a:pt x="2105457" y="-13383"/>
                  <a:pt x="2257256" y="13567"/>
                  <a:pt x="2577981" y="0"/>
                </a:cubicBezTo>
                <a:cubicBezTo>
                  <a:pt x="2898706" y="-13567"/>
                  <a:pt x="3026063" y="6328"/>
                  <a:pt x="3182692" y="0"/>
                </a:cubicBezTo>
                <a:cubicBezTo>
                  <a:pt x="3181983" y="8157"/>
                  <a:pt x="3182279" y="12125"/>
                  <a:pt x="3182692" y="18288"/>
                </a:cubicBezTo>
                <a:cubicBezTo>
                  <a:pt x="2998421" y="21742"/>
                  <a:pt x="2675038" y="19014"/>
                  <a:pt x="2482500" y="18288"/>
                </a:cubicBezTo>
                <a:cubicBezTo>
                  <a:pt x="2289962" y="17562"/>
                  <a:pt x="1930644" y="6834"/>
                  <a:pt x="1782308" y="18288"/>
                </a:cubicBezTo>
                <a:cubicBezTo>
                  <a:pt x="1633972" y="29742"/>
                  <a:pt x="1287388" y="-1992"/>
                  <a:pt x="1145769" y="18288"/>
                </a:cubicBezTo>
                <a:cubicBezTo>
                  <a:pt x="1004150" y="38568"/>
                  <a:pt x="256377" y="-37438"/>
                  <a:pt x="0" y="18288"/>
                </a:cubicBezTo>
                <a:cubicBezTo>
                  <a:pt x="-46" y="12483"/>
                  <a:pt x="-203" y="6491"/>
                  <a:pt x="0" y="0"/>
                </a:cubicBezTo>
                <a:close/>
              </a:path>
              <a:path w="3182692" h="18288" stroke="0" extrusionOk="0">
                <a:moveTo>
                  <a:pt x="0" y="0"/>
                </a:moveTo>
                <a:cubicBezTo>
                  <a:pt x="283446" y="18201"/>
                  <a:pt x="432812" y="7290"/>
                  <a:pt x="604711" y="0"/>
                </a:cubicBezTo>
                <a:cubicBezTo>
                  <a:pt x="776610" y="-7290"/>
                  <a:pt x="982253" y="15478"/>
                  <a:pt x="1145769" y="0"/>
                </a:cubicBezTo>
                <a:cubicBezTo>
                  <a:pt x="1309285" y="-15478"/>
                  <a:pt x="1514247" y="-25520"/>
                  <a:pt x="1845961" y="0"/>
                </a:cubicBezTo>
                <a:cubicBezTo>
                  <a:pt x="2177675" y="25520"/>
                  <a:pt x="2297588" y="16646"/>
                  <a:pt x="2450673" y="0"/>
                </a:cubicBezTo>
                <a:cubicBezTo>
                  <a:pt x="2603758" y="-16646"/>
                  <a:pt x="3023048" y="-21196"/>
                  <a:pt x="3182692" y="0"/>
                </a:cubicBezTo>
                <a:cubicBezTo>
                  <a:pt x="3182428" y="4493"/>
                  <a:pt x="3183076" y="9472"/>
                  <a:pt x="3182692" y="18288"/>
                </a:cubicBezTo>
                <a:cubicBezTo>
                  <a:pt x="3039109" y="-12701"/>
                  <a:pt x="2823860" y="13848"/>
                  <a:pt x="2546154" y="18288"/>
                </a:cubicBezTo>
                <a:cubicBezTo>
                  <a:pt x="2268448" y="22728"/>
                  <a:pt x="2098674" y="5291"/>
                  <a:pt x="1845961" y="18288"/>
                </a:cubicBezTo>
                <a:cubicBezTo>
                  <a:pt x="1593248" y="31285"/>
                  <a:pt x="1456743" y="27560"/>
                  <a:pt x="1304904" y="18288"/>
                </a:cubicBezTo>
                <a:cubicBezTo>
                  <a:pt x="1153065" y="9016"/>
                  <a:pt x="947204" y="11126"/>
                  <a:pt x="668365" y="18288"/>
                </a:cubicBezTo>
                <a:cubicBezTo>
                  <a:pt x="389526" y="25450"/>
                  <a:pt x="288244" y="-4628"/>
                  <a:pt x="0" y="18288"/>
                </a:cubicBezTo>
                <a:cubicBezTo>
                  <a:pt x="843" y="9577"/>
                  <a:pt x="371" y="6900"/>
                  <a:pt x="0" y="0"/>
                </a:cubicBezTo>
                <a:close/>
              </a:path>
            </a:pathLst>
          </a:custGeom>
          <a:solidFill>
            <a:schemeClr val="accent2"/>
          </a:solidFill>
          <a:ln w="44450"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1000"/>
                                  </p:stCondLst>
                                  <p:iterate type="lt">
                                    <p:tmPct val="10000"/>
                                  </p:iterate>
                                  <p:childTnLst>
                                    <p:set>
                                      <p:cBhvr>
                                        <p:cTn id="6" dur="1" fill="hold">
                                          <p:stCondLst>
                                            <p:cond delay="0"/>
                                          </p:stCondLst>
                                        </p:cTn>
                                        <p:tgtEl>
                                          <p:spTgt spid="2"/>
                                        </p:tgtEl>
                                        <p:attrNameLst>
                                          <p:attrName>style.visibility</p:attrName>
                                        </p:attrNameLst>
                                      </p:cBhvr>
                                      <p:to>
                                        <p:strVal val="visible"/>
                                      </p:to>
                                    </p:set>
                                    <p:animEffect transition="in" filter="fade">
                                      <p:cBhvr>
                                        <p:cTn id="7" dur="400"/>
                                        <p:tgtEl>
                                          <p:spTgt spid="2"/>
                                        </p:tgtEl>
                                      </p:cBhvr>
                                    </p:animEffect>
                                  </p:childTnLst>
                                </p:cTn>
                              </p:par>
                              <p:par>
                                <p:cTn id="8" presetID="10" presetClass="entr" presetSubtype="0" fill="hold" grpId="0" nodeType="withEffect">
                                  <p:stCondLst>
                                    <p:cond delay="2000"/>
                                  </p:stCondLst>
                                  <p:iterate type="lt">
                                    <p:tmPct val="10000"/>
                                  </p:iterate>
                                  <p:childTnLst>
                                    <p:set>
                                      <p:cBhvr>
                                        <p:cTn id="9" dur="1" fill="hold">
                                          <p:stCondLst>
                                            <p:cond delay="0"/>
                                          </p:stCondLst>
                                        </p:cTn>
                                        <p:tgtEl>
                                          <p:spTgt spid="3">
                                            <p:txEl>
                                              <p:pRg st="0" end="0"/>
                                            </p:txEl>
                                          </p:spTgt>
                                        </p:tgtEl>
                                        <p:attrNameLst>
                                          <p:attrName>style.visibility</p:attrName>
                                        </p:attrNameLst>
                                      </p:cBhvr>
                                      <p:to>
                                        <p:strVal val="visible"/>
                                      </p:to>
                                    </p:set>
                                    <p:animEffect transition="in" filter="fade">
                                      <p:cBhvr>
                                        <p:cTn id="10" dur="400"/>
                                        <p:tgtEl>
                                          <p:spTgt spid="3">
                                            <p:txEl>
                                              <p:pRg st="0" end="0"/>
                                            </p:txEl>
                                          </p:spTgt>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2000"/>
                                  </p:stCondLst>
                                  <p:iterate type="lt">
                                    <p:tmPct val="10000"/>
                                  </p:iterate>
                                  <p:childTnLst>
                                    <p:set>
                                      <p:cBhvr>
                                        <p:cTn id="14" dur="1" fill="hold">
                                          <p:stCondLst>
                                            <p:cond delay="0"/>
                                          </p:stCondLst>
                                        </p:cTn>
                                        <p:tgtEl>
                                          <p:spTgt spid="3">
                                            <p:txEl>
                                              <p:pRg st="1" end="1"/>
                                            </p:txEl>
                                          </p:spTgt>
                                        </p:tgtEl>
                                        <p:attrNameLst>
                                          <p:attrName>style.visibility</p:attrName>
                                        </p:attrNameLst>
                                      </p:cBhvr>
                                      <p:to>
                                        <p:strVal val="visible"/>
                                      </p:to>
                                    </p:set>
                                    <p:animEffect transition="in" filter="fade">
                                      <p:cBhvr>
                                        <p:cTn id="15" dur="400"/>
                                        <p:tgtEl>
                                          <p:spTgt spid="3">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3" grpId="0" build="p"/>
    </p:bldLst>
  </p:timing>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9A82AEAD-A989-2A5E-6AA5-19FEFEBEDB51}"/>
            </a:ext>
          </a:extLst>
        </p:cNvPr>
        <p:cNvGrpSpPr/>
        <p:nvPr/>
      </p:nvGrpSpPr>
      <p:grpSpPr>
        <a:xfrm>
          <a:off x="0" y="0"/>
          <a:ext cx="0" cy="0"/>
          <a:chOff x="0" y="0"/>
          <a:chExt cx="0" cy="0"/>
        </a:xfrm>
      </p:grpSpPr>
      <p:sp useBgFill="1">
        <p:nvSpPr>
          <p:cNvPr id="23" name="Rectangle 22">
            <a:extLst>
              <a:ext uri="{FF2B5EF4-FFF2-40B4-BE49-F238E27FC236}">
                <a16:creationId xmlns:a16="http://schemas.microsoft.com/office/drawing/2014/main" id="{09588DA8-065E-4F6F-8EFD-43104AB2E0C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144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useBgFill="1">
        <p:nvSpPr>
          <p:cNvPr id="25" name="Rectangle 24">
            <a:extLst>
              <a:ext uri="{FF2B5EF4-FFF2-40B4-BE49-F238E27FC236}">
                <a16:creationId xmlns:a16="http://schemas.microsoft.com/office/drawing/2014/main" id="{C4285719-470E-454C-AF62-8323075F1F5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141714"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 name="Rectangle 26">
            <a:extLst>
              <a:ext uri="{FF2B5EF4-FFF2-40B4-BE49-F238E27FC236}">
                <a16:creationId xmlns:a16="http://schemas.microsoft.com/office/drawing/2014/main" id="{CD9FE4EF-C4D8-49A0-B2FF-81D8DB7D8A2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914813" y="1914812"/>
            <a:ext cx="6858000" cy="3028377"/>
          </a:xfrm>
          <a:prstGeom prst="rect">
            <a:avLst/>
          </a:prstGeom>
          <a:gradFill>
            <a:gsLst>
              <a:gs pos="8000">
                <a:srgbClr val="000000"/>
              </a:gs>
              <a:gs pos="100000">
                <a:schemeClr val="accent1">
                  <a:lumMod val="75000"/>
                </a:schemeClr>
              </a:gs>
            </a:gsLst>
            <a:lin ang="3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 name="Rectangle 28">
            <a:extLst>
              <a:ext uri="{FF2B5EF4-FFF2-40B4-BE49-F238E27FC236}">
                <a16:creationId xmlns:a16="http://schemas.microsoft.com/office/drawing/2014/main" id="{4300840D-0A0B-4512-BACA-B439D5B9C57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914814" y="1924949"/>
            <a:ext cx="6857999" cy="3028379"/>
          </a:xfrm>
          <a:prstGeom prst="rect">
            <a:avLst/>
          </a:prstGeom>
          <a:gradFill>
            <a:gsLst>
              <a:gs pos="0">
                <a:srgbClr val="000000">
                  <a:alpha val="0"/>
                </a:srgbClr>
              </a:gs>
              <a:gs pos="99000">
                <a:schemeClr val="accent1">
                  <a:alpha val="46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 name="Rectangle 30">
            <a:extLst>
              <a:ext uri="{FF2B5EF4-FFF2-40B4-BE49-F238E27FC236}">
                <a16:creationId xmlns:a16="http://schemas.microsoft.com/office/drawing/2014/main" id="{D2B78728-A580-49A7-84F9-6EF6F583ADE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263195" y="4092815"/>
            <a:ext cx="2501979" cy="3028381"/>
          </a:xfrm>
          <a:prstGeom prst="rect">
            <a:avLst/>
          </a:prstGeom>
          <a:gradFill>
            <a:gsLst>
              <a:gs pos="2000">
                <a:schemeClr val="accent1">
                  <a:alpha val="29000"/>
                </a:schemeClr>
              </a:gs>
              <a:gs pos="100000">
                <a:srgbClr val="000000">
                  <a:alpha val="30000"/>
                </a:srgb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3" name="Freeform: Shape 32">
            <a:extLst>
              <a:ext uri="{FF2B5EF4-FFF2-40B4-BE49-F238E27FC236}">
                <a16:creationId xmlns:a16="http://schemas.microsoft.com/office/drawing/2014/main" id="{38FAA1A1-D861-433F-88FA-1E9D6FD31D1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20635413">
            <a:off x="-376302" y="969718"/>
            <a:ext cx="2925267" cy="4178958"/>
          </a:xfrm>
          <a:custGeom>
            <a:avLst/>
            <a:gdLst>
              <a:gd name="connsiteX0" fmla="*/ 2432225 w 3900357"/>
              <a:gd name="connsiteY0" fmla="*/ 93939 h 4178958"/>
              <a:gd name="connsiteX1" fmla="*/ 3900357 w 3900357"/>
              <a:gd name="connsiteY1" fmla="*/ 2089479 h 4178958"/>
              <a:gd name="connsiteX2" fmla="*/ 1810878 w 3900357"/>
              <a:gd name="connsiteY2" fmla="*/ 4178958 h 4178958"/>
              <a:gd name="connsiteX3" fmla="*/ 78249 w 3900357"/>
              <a:gd name="connsiteY3" fmla="*/ 3257727 h 4178958"/>
              <a:gd name="connsiteX4" fmla="*/ 0 w 3900357"/>
              <a:gd name="connsiteY4" fmla="*/ 3128923 h 4178958"/>
              <a:gd name="connsiteX5" fmla="*/ 831324 w 3900357"/>
              <a:gd name="connsiteY5" fmla="*/ 244281 h 4178958"/>
              <a:gd name="connsiteX6" fmla="*/ 997559 w 3900357"/>
              <a:gd name="connsiteY6" fmla="*/ 164202 h 4178958"/>
              <a:gd name="connsiteX7" fmla="*/ 1810878 w 3900357"/>
              <a:gd name="connsiteY7" fmla="*/ 0 h 4178958"/>
              <a:gd name="connsiteX8" fmla="*/ 2432225 w 3900357"/>
              <a:gd name="connsiteY8" fmla="*/ 93939 h 41789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900357" h="4178958">
                <a:moveTo>
                  <a:pt x="2432225" y="93939"/>
                </a:moveTo>
                <a:cubicBezTo>
                  <a:pt x="3282786" y="358491"/>
                  <a:pt x="3900357" y="1151865"/>
                  <a:pt x="3900357" y="2089479"/>
                </a:cubicBezTo>
                <a:cubicBezTo>
                  <a:pt x="3900357" y="3243466"/>
                  <a:pt x="2964865" y="4178958"/>
                  <a:pt x="1810878" y="4178958"/>
                </a:cubicBezTo>
                <a:cubicBezTo>
                  <a:pt x="1089636" y="4178958"/>
                  <a:pt x="453744" y="3813531"/>
                  <a:pt x="78249" y="3257727"/>
                </a:cubicBezTo>
                <a:lnTo>
                  <a:pt x="0" y="3128923"/>
                </a:lnTo>
                <a:lnTo>
                  <a:pt x="831324" y="244281"/>
                </a:lnTo>
                <a:lnTo>
                  <a:pt x="997559" y="164202"/>
                </a:lnTo>
                <a:cubicBezTo>
                  <a:pt x="1247540" y="58468"/>
                  <a:pt x="1522381" y="0"/>
                  <a:pt x="1810878" y="0"/>
                </a:cubicBezTo>
                <a:cubicBezTo>
                  <a:pt x="2027251" y="0"/>
                  <a:pt x="2235942" y="32888"/>
                  <a:pt x="2432225" y="93939"/>
                </a:cubicBezTo>
                <a:close/>
              </a:path>
            </a:pathLst>
          </a:custGeom>
          <a:gradFill>
            <a:gsLst>
              <a:gs pos="29000">
                <a:srgbClr val="000000">
                  <a:alpha val="0"/>
                </a:srgbClr>
              </a:gs>
              <a:gs pos="100000">
                <a:schemeClr val="accent1">
                  <a:alpha val="43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35" name="Rectangle 34">
            <a:extLst>
              <a:ext uri="{FF2B5EF4-FFF2-40B4-BE49-F238E27FC236}">
                <a16:creationId xmlns:a16="http://schemas.microsoft.com/office/drawing/2014/main" id="{8D71EDA1-87BF-4D5D-AB79-F346FD19278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914820" y="1904672"/>
            <a:ext cx="6858003" cy="3028376"/>
          </a:xfrm>
          <a:prstGeom prst="rect">
            <a:avLst/>
          </a:prstGeom>
          <a:gradFill>
            <a:gsLst>
              <a:gs pos="0">
                <a:srgbClr val="000000">
                  <a:alpha val="0"/>
                </a:srgbClr>
              </a:gs>
              <a:gs pos="99000">
                <a:schemeClr val="accent1">
                  <a:lumMod val="60000"/>
                  <a:lumOff val="40000"/>
                  <a:alpha val="11000"/>
                </a:schemeClr>
              </a:gs>
            </a:gsLst>
            <a:lin ang="7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4C7AE640-440D-5606-D78D-FB660BEFF20F}"/>
              </a:ext>
            </a:extLst>
          </p:cNvPr>
          <p:cNvSpPr>
            <a:spLocks noGrp="1"/>
          </p:cNvSpPr>
          <p:nvPr>
            <p:ph type="title"/>
          </p:nvPr>
        </p:nvSpPr>
        <p:spPr>
          <a:xfrm>
            <a:off x="350041" y="586855"/>
            <a:ext cx="2401025" cy="3387497"/>
          </a:xfrm>
        </p:spPr>
        <p:txBody>
          <a:bodyPr anchor="b">
            <a:normAutofit/>
          </a:bodyPr>
          <a:lstStyle/>
          <a:p>
            <a:r>
              <a:rPr lang="en-US" sz="3500" b="1" i="1" dirty="0">
                <a:solidFill>
                  <a:srgbClr val="FFFFFF"/>
                </a:solidFill>
                <a:latin typeface="Calibri" pitchFamily="34" charset="0"/>
                <a:cs typeface="Calibri" pitchFamily="34" charset="-120"/>
              </a:rPr>
              <a:t>Tutorial</a:t>
            </a:r>
            <a:r>
              <a:rPr lang="en-US" sz="3600" b="1" dirty="0"/>
              <a:t> </a:t>
            </a:r>
            <a:r>
              <a:rPr lang="en-US" sz="3500" b="1" i="1" dirty="0">
                <a:solidFill>
                  <a:srgbClr val="FFFFFF"/>
                </a:solidFill>
                <a:latin typeface="Calibri" pitchFamily="34" charset="0"/>
                <a:cs typeface="Calibri" pitchFamily="34" charset="-120"/>
              </a:rPr>
              <a:t>Objective</a:t>
            </a:r>
          </a:p>
        </p:txBody>
      </p:sp>
      <p:sp>
        <p:nvSpPr>
          <p:cNvPr id="3" name="Content Placeholder 2">
            <a:extLst>
              <a:ext uri="{FF2B5EF4-FFF2-40B4-BE49-F238E27FC236}">
                <a16:creationId xmlns:a16="http://schemas.microsoft.com/office/drawing/2014/main" id="{B42065FB-C65B-5BF2-49AF-E926B330BF2A}"/>
              </a:ext>
            </a:extLst>
          </p:cNvPr>
          <p:cNvSpPr>
            <a:spLocks noGrp="1"/>
          </p:cNvSpPr>
          <p:nvPr>
            <p:ph idx="1"/>
          </p:nvPr>
        </p:nvSpPr>
        <p:spPr>
          <a:xfrm>
            <a:off x="3176337" y="649480"/>
            <a:ext cx="5774479" cy="5546047"/>
          </a:xfrm>
          <a:noFill/>
        </p:spPr>
        <p:txBody>
          <a:bodyPr anchor="ctr">
            <a:normAutofit/>
          </a:bodyPr>
          <a:lstStyle/>
          <a:p>
            <a:pPr>
              <a:buFont typeface="Wingdings" pitchFamily="2" charset="2"/>
              <a:buChar char="v"/>
            </a:pPr>
            <a:r>
              <a:rPr lang="en-US" sz="1700" b="1" dirty="0"/>
              <a:t>Tutorial: Self Learning:-</a:t>
            </a:r>
          </a:p>
          <a:p>
            <a:pPr marL="0" indent="0">
              <a:buNone/>
            </a:pPr>
            <a:endParaRPr lang="en-US" sz="1700" b="1" dirty="0"/>
          </a:p>
          <a:p>
            <a:pPr>
              <a:buFont typeface="Wingdings" pitchFamily="2" charset="2"/>
              <a:buChar char="Ø"/>
            </a:pPr>
            <a:r>
              <a:rPr lang="en-US" sz="1700" dirty="0"/>
              <a:t>Identify diabetic ICU patients from MIMIC-III structured data</a:t>
            </a:r>
          </a:p>
          <a:p>
            <a:pPr>
              <a:buFont typeface="Wingdings" pitchFamily="2" charset="2"/>
              <a:buChar char="Ø"/>
            </a:pPr>
            <a:r>
              <a:rPr lang="en-US" sz="1700" dirty="0"/>
              <a:t>Engineer simple clinical and demographic features</a:t>
            </a:r>
          </a:p>
          <a:p>
            <a:pPr>
              <a:buFont typeface="Wingdings" pitchFamily="2" charset="2"/>
              <a:buChar char="Ø"/>
            </a:pPr>
            <a:r>
              <a:rPr lang="en-US" sz="1700" dirty="0"/>
              <a:t>Predict ICU length-of-stay category using machine learning</a:t>
            </a:r>
          </a:p>
          <a:p>
            <a:pPr marL="0" indent="0">
              <a:buNone/>
            </a:pPr>
            <a:endParaRPr lang="en-US" sz="1700" dirty="0"/>
          </a:p>
          <a:p>
            <a:pPr>
              <a:buFont typeface="Wingdings" pitchFamily="2" charset="2"/>
              <a:buChar char="v"/>
            </a:pPr>
            <a:r>
              <a:rPr lang="en-US" sz="1700" b="1" dirty="0"/>
              <a:t>Problem Statement</a:t>
            </a:r>
          </a:p>
          <a:p>
            <a:pPr marL="0" indent="0">
              <a:buNone/>
            </a:pPr>
            <a:r>
              <a:rPr lang="en-US" sz="1700" dirty="0"/>
              <a:t>	Diabetes is a common chronic 	disease that can 	complicate hospitalization and ICU care. This tutorial 	demonstrates how structured EHR data can be used to 	classify ICU stay into:</a:t>
            </a:r>
          </a:p>
          <a:p>
            <a:pPr>
              <a:buFont typeface="Wingdings" pitchFamily="2" charset="2"/>
              <a:buChar char="Ø"/>
            </a:pPr>
            <a:r>
              <a:rPr lang="en-US" sz="1700" b="1" dirty="0"/>
              <a:t>Short stay</a:t>
            </a:r>
            <a:r>
              <a:rPr lang="en-US" sz="1700" dirty="0"/>
              <a:t>: less than 2 days</a:t>
            </a:r>
          </a:p>
          <a:p>
            <a:pPr>
              <a:buFont typeface="Wingdings" pitchFamily="2" charset="2"/>
              <a:buChar char="Ø"/>
            </a:pPr>
            <a:r>
              <a:rPr lang="en-US" sz="1700" b="1" dirty="0"/>
              <a:t>Medium stay</a:t>
            </a:r>
            <a:r>
              <a:rPr lang="en-US" sz="1700" dirty="0"/>
              <a:t>: 2 to 7 days</a:t>
            </a:r>
          </a:p>
          <a:p>
            <a:pPr>
              <a:buFont typeface="Wingdings" pitchFamily="2" charset="2"/>
              <a:buChar char="Ø"/>
            </a:pPr>
            <a:r>
              <a:rPr lang="en-US" sz="1700" b="1" dirty="0"/>
              <a:t>Long stay</a:t>
            </a:r>
            <a:r>
              <a:rPr lang="en-US" sz="1700" dirty="0"/>
              <a:t>: more than 7 days</a:t>
            </a:r>
          </a:p>
          <a:p>
            <a:pPr marL="0" indent="0">
              <a:buNone/>
            </a:pPr>
            <a:endParaRPr lang="en-US" sz="1700" dirty="0"/>
          </a:p>
        </p:txBody>
      </p:sp>
    </p:spTree>
    <p:extLst>
      <p:ext uri="{BB962C8B-B14F-4D97-AF65-F5344CB8AC3E}">
        <p14:creationId xmlns:p14="http://schemas.microsoft.com/office/powerpoint/2010/main" val="85817389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5" name="Rectangle 24">
            <a:extLst>
              <a:ext uri="{FF2B5EF4-FFF2-40B4-BE49-F238E27FC236}">
                <a16:creationId xmlns:a16="http://schemas.microsoft.com/office/drawing/2014/main" id="{09588DA8-065E-4F6F-8EFD-43104AB2E0C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144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useBgFill="1">
        <p:nvSpPr>
          <p:cNvPr id="27" name="Rectangle 26">
            <a:extLst>
              <a:ext uri="{FF2B5EF4-FFF2-40B4-BE49-F238E27FC236}">
                <a16:creationId xmlns:a16="http://schemas.microsoft.com/office/drawing/2014/main" id="{C4285719-470E-454C-AF62-8323075F1F5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141714"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 name="Rectangle 28">
            <a:extLst>
              <a:ext uri="{FF2B5EF4-FFF2-40B4-BE49-F238E27FC236}">
                <a16:creationId xmlns:a16="http://schemas.microsoft.com/office/drawing/2014/main" id="{CD9FE4EF-C4D8-49A0-B2FF-81D8DB7D8A2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914813" y="1914812"/>
            <a:ext cx="6858000" cy="3028377"/>
          </a:xfrm>
          <a:prstGeom prst="rect">
            <a:avLst/>
          </a:prstGeom>
          <a:gradFill>
            <a:gsLst>
              <a:gs pos="8000">
                <a:srgbClr val="000000"/>
              </a:gs>
              <a:gs pos="100000">
                <a:schemeClr val="accent1">
                  <a:lumMod val="75000"/>
                </a:schemeClr>
              </a:gs>
            </a:gsLst>
            <a:lin ang="3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 name="Rectangle 30">
            <a:extLst>
              <a:ext uri="{FF2B5EF4-FFF2-40B4-BE49-F238E27FC236}">
                <a16:creationId xmlns:a16="http://schemas.microsoft.com/office/drawing/2014/main" id="{4300840D-0A0B-4512-BACA-B439D5B9C57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914814" y="1924949"/>
            <a:ext cx="6857999" cy="3028379"/>
          </a:xfrm>
          <a:prstGeom prst="rect">
            <a:avLst/>
          </a:prstGeom>
          <a:gradFill>
            <a:gsLst>
              <a:gs pos="0">
                <a:srgbClr val="000000">
                  <a:alpha val="0"/>
                </a:srgbClr>
              </a:gs>
              <a:gs pos="99000">
                <a:schemeClr val="accent1">
                  <a:alpha val="46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3" name="Rectangle 32">
            <a:extLst>
              <a:ext uri="{FF2B5EF4-FFF2-40B4-BE49-F238E27FC236}">
                <a16:creationId xmlns:a16="http://schemas.microsoft.com/office/drawing/2014/main" id="{D2B78728-A580-49A7-84F9-6EF6F583ADE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263195" y="4092815"/>
            <a:ext cx="2501979" cy="3028381"/>
          </a:xfrm>
          <a:prstGeom prst="rect">
            <a:avLst/>
          </a:prstGeom>
          <a:gradFill>
            <a:gsLst>
              <a:gs pos="2000">
                <a:schemeClr val="accent1">
                  <a:alpha val="29000"/>
                </a:schemeClr>
              </a:gs>
              <a:gs pos="100000">
                <a:srgbClr val="000000">
                  <a:alpha val="30000"/>
                </a:srgb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5" name="Freeform: Shape 34">
            <a:extLst>
              <a:ext uri="{FF2B5EF4-FFF2-40B4-BE49-F238E27FC236}">
                <a16:creationId xmlns:a16="http://schemas.microsoft.com/office/drawing/2014/main" id="{38FAA1A1-D861-433F-88FA-1E9D6FD31D1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20635413">
            <a:off x="-376302" y="969718"/>
            <a:ext cx="2925267" cy="4178958"/>
          </a:xfrm>
          <a:custGeom>
            <a:avLst/>
            <a:gdLst>
              <a:gd name="connsiteX0" fmla="*/ 2432225 w 3900357"/>
              <a:gd name="connsiteY0" fmla="*/ 93939 h 4178958"/>
              <a:gd name="connsiteX1" fmla="*/ 3900357 w 3900357"/>
              <a:gd name="connsiteY1" fmla="*/ 2089479 h 4178958"/>
              <a:gd name="connsiteX2" fmla="*/ 1810878 w 3900357"/>
              <a:gd name="connsiteY2" fmla="*/ 4178958 h 4178958"/>
              <a:gd name="connsiteX3" fmla="*/ 78249 w 3900357"/>
              <a:gd name="connsiteY3" fmla="*/ 3257727 h 4178958"/>
              <a:gd name="connsiteX4" fmla="*/ 0 w 3900357"/>
              <a:gd name="connsiteY4" fmla="*/ 3128923 h 4178958"/>
              <a:gd name="connsiteX5" fmla="*/ 831324 w 3900357"/>
              <a:gd name="connsiteY5" fmla="*/ 244281 h 4178958"/>
              <a:gd name="connsiteX6" fmla="*/ 997559 w 3900357"/>
              <a:gd name="connsiteY6" fmla="*/ 164202 h 4178958"/>
              <a:gd name="connsiteX7" fmla="*/ 1810878 w 3900357"/>
              <a:gd name="connsiteY7" fmla="*/ 0 h 4178958"/>
              <a:gd name="connsiteX8" fmla="*/ 2432225 w 3900357"/>
              <a:gd name="connsiteY8" fmla="*/ 93939 h 41789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900357" h="4178958">
                <a:moveTo>
                  <a:pt x="2432225" y="93939"/>
                </a:moveTo>
                <a:cubicBezTo>
                  <a:pt x="3282786" y="358491"/>
                  <a:pt x="3900357" y="1151865"/>
                  <a:pt x="3900357" y="2089479"/>
                </a:cubicBezTo>
                <a:cubicBezTo>
                  <a:pt x="3900357" y="3243466"/>
                  <a:pt x="2964865" y="4178958"/>
                  <a:pt x="1810878" y="4178958"/>
                </a:cubicBezTo>
                <a:cubicBezTo>
                  <a:pt x="1089636" y="4178958"/>
                  <a:pt x="453744" y="3813531"/>
                  <a:pt x="78249" y="3257727"/>
                </a:cubicBezTo>
                <a:lnTo>
                  <a:pt x="0" y="3128923"/>
                </a:lnTo>
                <a:lnTo>
                  <a:pt x="831324" y="244281"/>
                </a:lnTo>
                <a:lnTo>
                  <a:pt x="997559" y="164202"/>
                </a:lnTo>
                <a:cubicBezTo>
                  <a:pt x="1247540" y="58468"/>
                  <a:pt x="1522381" y="0"/>
                  <a:pt x="1810878" y="0"/>
                </a:cubicBezTo>
                <a:cubicBezTo>
                  <a:pt x="2027251" y="0"/>
                  <a:pt x="2235942" y="32888"/>
                  <a:pt x="2432225" y="93939"/>
                </a:cubicBezTo>
                <a:close/>
              </a:path>
            </a:pathLst>
          </a:custGeom>
          <a:gradFill>
            <a:gsLst>
              <a:gs pos="29000">
                <a:srgbClr val="000000">
                  <a:alpha val="0"/>
                </a:srgbClr>
              </a:gs>
              <a:gs pos="100000">
                <a:schemeClr val="accent1">
                  <a:alpha val="43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37" name="Rectangle 36">
            <a:extLst>
              <a:ext uri="{FF2B5EF4-FFF2-40B4-BE49-F238E27FC236}">
                <a16:creationId xmlns:a16="http://schemas.microsoft.com/office/drawing/2014/main" id="{8D71EDA1-87BF-4D5D-AB79-F346FD19278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914820" y="1904672"/>
            <a:ext cx="6858003" cy="3028376"/>
          </a:xfrm>
          <a:prstGeom prst="rect">
            <a:avLst/>
          </a:prstGeom>
          <a:gradFill>
            <a:gsLst>
              <a:gs pos="0">
                <a:srgbClr val="000000">
                  <a:alpha val="0"/>
                </a:srgbClr>
              </a:gs>
              <a:gs pos="99000">
                <a:schemeClr val="accent1">
                  <a:lumMod val="60000"/>
                  <a:lumOff val="40000"/>
                  <a:alpha val="11000"/>
                </a:schemeClr>
              </a:gs>
            </a:gsLst>
            <a:lin ang="7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a:xfrm>
            <a:off x="1" y="586855"/>
            <a:ext cx="2751066" cy="3387497"/>
          </a:xfrm>
        </p:spPr>
        <p:txBody>
          <a:bodyPr anchor="b">
            <a:normAutofit/>
          </a:bodyPr>
          <a:lstStyle/>
          <a:p>
            <a:r>
              <a:rPr lang="en-US" sz="3500" b="1" i="1" dirty="0">
                <a:solidFill>
                  <a:srgbClr val="FFFFFF"/>
                </a:solidFill>
                <a:latin typeface="Calibri" pitchFamily="34" charset="0"/>
                <a:cs typeface="Calibri" pitchFamily="34" charset="-120"/>
              </a:rPr>
              <a:t>Diabetes</a:t>
            </a:r>
            <a:br>
              <a:rPr lang="en-US" sz="3500" b="1" i="1" dirty="0">
                <a:solidFill>
                  <a:srgbClr val="FFFFFF"/>
                </a:solidFill>
                <a:latin typeface="Calibri" pitchFamily="34" charset="0"/>
                <a:cs typeface="Calibri" pitchFamily="34" charset="-120"/>
              </a:rPr>
            </a:br>
            <a:r>
              <a:rPr lang="en-US" sz="3500" b="1" i="1" dirty="0">
                <a:solidFill>
                  <a:srgbClr val="FFFFFF"/>
                </a:solidFill>
                <a:latin typeface="Calibri" pitchFamily="34" charset="0"/>
                <a:cs typeface="Calibri" pitchFamily="34" charset="-120"/>
              </a:rPr>
              <a:t>Topic Matters</a:t>
            </a:r>
          </a:p>
        </p:txBody>
      </p:sp>
      <p:sp>
        <p:nvSpPr>
          <p:cNvPr id="3" name="Content Placeholder 2"/>
          <p:cNvSpPr>
            <a:spLocks noGrp="1"/>
          </p:cNvSpPr>
          <p:nvPr>
            <p:ph idx="1"/>
          </p:nvPr>
        </p:nvSpPr>
        <p:spPr>
          <a:xfrm>
            <a:off x="3607694" y="649480"/>
            <a:ext cx="4916510" cy="5546047"/>
          </a:xfrm>
        </p:spPr>
        <p:txBody>
          <a:bodyPr anchor="ctr">
            <a:normAutofit/>
          </a:bodyPr>
          <a:lstStyle/>
          <a:p>
            <a:pPr>
              <a:spcBef>
                <a:spcPct val="0"/>
              </a:spcBef>
              <a:spcAft>
                <a:spcPts val="600"/>
              </a:spcAft>
              <a:buFont typeface="Wingdings" pitchFamily="2" charset="2"/>
              <a:buChar char="v"/>
            </a:pPr>
            <a:r>
              <a:rPr lang="en-US" sz="1700" dirty="0"/>
              <a:t>	Patients hospitalized due to diabetes</a:t>
            </a:r>
          </a:p>
          <a:p>
            <a:pPr fontAlgn="ctr">
              <a:buFont typeface="Wingdings" pitchFamily="2" charset="2"/>
              <a:buChar char="Ø"/>
            </a:pPr>
            <a:r>
              <a:rPr lang="en-US" sz="1700" dirty="0"/>
              <a:t>Diabetes is a major contributor to hospitalization and critical care needs</a:t>
            </a:r>
          </a:p>
          <a:p>
            <a:pPr fontAlgn="ctr">
              <a:buFont typeface="Wingdings" pitchFamily="2" charset="2"/>
              <a:buChar char="Ø"/>
            </a:pPr>
            <a:r>
              <a:rPr lang="en-US" sz="1700" dirty="0"/>
              <a:t>ICU management for diabetic patients is often more complex due to complications and comorbidities</a:t>
            </a:r>
          </a:p>
          <a:p>
            <a:pPr fontAlgn="ctr">
              <a:buFont typeface="Wingdings" pitchFamily="2" charset="2"/>
              <a:buChar char="Ø"/>
            </a:pPr>
            <a:r>
              <a:rPr lang="en-US" sz="1700" dirty="0"/>
              <a:t>Predicting length of stay can help improve staffing, bed planning, and resource use</a:t>
            </a:r>
            <a:endParaRPr lang="en-US" dirty="0"/>
          </a:p>
          <a:p>
            <a:pPr>
              <a:spcBef>
                <a:spcPct val="0"/>
              </a:spcBef>
              <a:spcAft>
                <a:spcPts val="600"/>
              </a:spcAft>
              <a:buFont typeface="Wingdings" pitchFamily="2" charset="2"/>
              <a:buChar char="Ø"/>
            </a:pPr>
            <a:r>
              <a:rPr lang="en-US" sz="1700" dirty="0"/>
              <a:t>Diabetic ICU care is often more complex</a:t>
            </a:r>
          </a:p>
          <a:p>
            <a:pPr>
              <a:spcBef>
                <a:spcPct val="0"/>
              </a:spcBef>
              <a:spcAft>
                <a:spcPts val="600"/>
              </a:spcAft>
              <a:buFont typeface="Wingdings" pitchFamily="2" charset="2"/>
              <a:buChar char="Ø"/>
            </a:pPr>
            <a:r>
              <a:rPr lang="en-US" sz="1700" dirty="0"/>
              <a:t>Predicting LOS can help with planning and resource allocation</a:t>
            </a:r>
          </a:p>
          <a:p>
            <a:pPr marL="0" indent="0">
              <a:spcBef>
                <a:spcPct val="0"/>
              </a:spcBef>
              <a:spcAft>
                <a:spcPts val="600"/>
              </a:spcAft>
              <a:buNone/>
            </a:pPr>
            <a:endParaRPr lang="en-US" sz="17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98C1F527-6D8C-AF00-4758-A7EFFBB6D662}"/>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09588DA8-065E-4F6F-8EFD-43104AB2E0C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144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useBgFill="1">
        <p:nvSpPr>
          <p:cNvPr id="10" name="Rectangle 9">
            <a:extLst>
              <a:ext uri="{FF2B5EF4-FFF2-40B4-BE49-F238E27FC236}">
                <a16:creationId xmlns:a16="http://schemas.microsoft.com/office/drawing/2014/main" id="{C4285719-470E-454C-AF62-8323075F1F5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141714"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CD9FE4EF-C4D8-49A0-B2FF-81D8DB7D8A2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914813" y="1914812"/>
            <a:ext cx="6858000" cy="3028377"/>
          </a:xfrm>
          <a:prstGeom prst="rect">
            <a:avLst/>
          </a:prstGeom>
          <a:gradFill>
            <a:gsLst>
              <a:gs pos="8000">
                <a:srgbClr val="000000"/>
              </a:gs>
              <a:gs pos="100000">
                <a:schemeClr val="accent1">
                  <a:lumMod val="75000"/>
                </a:schemeClr>
              </a:gs>
            </a:gsLst>
            <a:lin ang="3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4300840D-0A0B-4512-BACA-B439D5B9C57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914814" y="1924949"/>
            <a:ext cx="6857999" cy="3028379"/>
          </a:xfrm>
          <a:prstGeom prst="rect">
            <a:avLst/>
          </a:prstGeom>
          <a:gradFill>
            <a:gsLst>
              <a:gs pos="0">
                <a:srgbClr val="000000">
                  <a:alpha val="0"/>
                </a:srgbClr>
              </a:gs>
              <a:gs pos="99000">
                <a:schemeClr val="accent1">
                  <a:alpha val="46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a:extLst>
              <a:ext uri="{FF2B5EF4-FFF2-40B4-BE49-F238E27FC236}">
                <a16:creationId xmlns:a16="http://schemas.microsoft.com/office/drawing/2014/main" id="{D2B78728-A580-49A7-84F9-6EF6F583ADE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263195" y="4092815"/>
            <a:ext cx="2501979" cy="3028381"/>
          </a:xfrm>
          <a:prstGeom prst="rect">
            <a:avLst/>
          </a:prstGeom>
          <a:gradFill>
            <a:gsLst>
              <a:gs pos="2000">
                <a:schemeClr val="accent1">
                  <a:alpha val="29000"/>
                </a:schemeClr>
              </a:gs>
              <a:gs pos="100000">
                <a:srgbClr val="000000">
                  <a:alpha val="30000"/>
                </a:srgb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8" name="Freeform: Shape 17">
            <a:extLst>
              <a:ext uri="{FF2B5EF4-FFF2-40B4-BE49-F238E27FC236}">
                <a16:creationId xmlns:a16="http://schemas.microsoft.com/office/drawing/2014/main" id="{38FAA1A1-D861-433F-88FA-1E9D6FD31D1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20635413">
            <a:off x="-376302" y="969718"/>
            <a:ext cx="2925267" cy="4178958"/>
          </a:xfrm>
          <a:custGeom>
            <a:avLst/>
            <a:gdLst>
              <a:gd name="connsiteX0" fmla="*/ 2432225 w 3900357"/>
              <a:gd name="connsiteY0" fmla="*/ 93939 h 4178958"/>
              <a:gd name="connsiteX1" fmla="*/ 3900357 w 3900357"/>
              <a:gd name="connsiteY1" fmla="*/ 2089479 h 4178958"/>
              <a:gd name="connsiteX2" fmla="*/ 1810878 w 3900357"/>
              <a:gd name="connsiteY2" fmla="*/ 4178958 h 4178958"/>
              <a:gd name="connsiteX3" fmla="*/ 78249 w 3900357"/>
              <a:gd name="connsiteY3" fmla="*/ 3257727 h 4178958"/>
              <a:gd name="connsiteX4" fmla="*/ 0 w 3900357"/>
              <a:gd name="connsiteY4" fmla="*/ 3128923 h 4178958"/>
              <a:gd name="connsiteX5" fmla="*/ 831324 w 3900357"/>
              <a:gd name="connsiteY5" fmla="*/ 244281 h 4178958"/>
              <a:gd name="connsiteX6" fmla="*/ 997559 w 3900357"/>
              <a:gd name="connsiteY6" fmla="*/ 164202 h 4178958"/>
              <a:gd name="connsiteX7" fmla="*/ 1810878 w 3900357"/>
              <a:gd name="connsiteY7" fmla="*/ 0 h 4178958"/>
              <a:gd name="connsiteX8" fmla="*/ 2432225 w 3900357"/>
              <a:gd name="connsiteY8" fmla="*/ 93939 h 41789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900357" h="4178958">
                <a:moveTo>
                  <a:pt x="2432225" y="93939"/>
                </a:moveTo>
                <a:cubicBezTo>
                  <a:pt x="3282786" y="358491"/>
                  <a:pt x="3900357" y="1151865"/>
                  <a:pt x="3900357" y="2089479"/>
                </a:cubicBezTo>
                <a:cubicBezTo>
                  <a:pt x="3900357" y="3243466"/>
                  <a:pt x="2964865" y="4178958"/>
                  <a:pt x="1810878" y="4178958"/>
                </a:cubicBezTo>
                <a:cubicBezTo>
                  <a:pt x="1089636" y="4178958"/>
                  <a:pt x="453744" y="3813531"/>
                  <a:pt x="78249" y="3257727"/>
                </a:cubicBezTo>
                <a:lnTo>
                  <a:pt x="0" y="3128923"/>
                </a:lnTo>
                <a:lnTo>
                  <a:pt x="831324" y="244281"/>
                </a:lnTo>
                <a:lnTo>
                  <a:pt x="997559" y="164202"/>
                </a:lnTo>
                <a:cubicBezTo>
                  <a:pt x="1247540" y="58468"/>
                  <a:pt x="1522381" y="0"/>
                  <a:pt x="1810878" y="0"/>
                </a:cubicBezTo>
                <a:cubicBezTo>
                  <a:pt x="2027251" y="0"/>
                  <a:pt x="2235942" y="32888"/>
                  <a:pt x="2432225" y="93939"/>
                </a:cubicBezTo>
                <a:close/>
              </a:path>
            </a:pathLst>
          </a:custGeom>
          <a:gradFill>
            <a:gsLst>
              <a:gs pos="29000">
                <a:srgbClr val="000000">
                  <a:alpha val="0"/>
                </a:srgbClr>
              </a:gs>
              <a:gs pos="100000">
                <a:schemeClr val="accent1">
                  <a:alpha val="43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20" name="Rectangle 19">
            <a:extLst>
              <a:ext uri="{FF2B5EF4-FFF2-40B4-BE49-F238E27FC236}">
                <a16:creationId xmlns:a16="http://schemas.microsoft.com/office/drawing/2014/main" id="{8D71EDA1-87BF-4D5D-AB79-F346FD19278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914820" y="1904672"/>
            <a:ext cx="6858003" cy="3028376"/>
          </a:xfrm>
          <a:prstGeom prst="rect">
            <a:avLst/>
          </a:prstGeom>
          <a:gradFill>
            <a:gsLst>
              <a:gs pos="0">
                <a:srgbClr val="000000">
                  <a:alpha val="0"/>
                </a:srgbClr>
              </a:gs>
              <a:gs pos="99000">
                <a:schemeClr val="accent1">
                  <a:lumMod val="60000"/>
                  <a:lumOff val="40000"/>
                  <a:alpha val="11000"/>
                </a:schemeClr>
              </a:gs>
            </a:gsLst>
            <a:lin ang="7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3FE9226B-C5DC-57C7-DF18-8B779A28136D}"/>
              </a:ext>
            </a:extLst>
          </p:cNvPr>
          <p:cNvSpPr>
            <a:spLocks noGrp="1"/>
          </p:cNvSpPr>
          <p:nvPr>
            <p:ph type="title"/>
          </p:nvPr>
        </p:nvSpPr>
        <p:spPr>
          <a:xfrm>
            <a:off x="350041" y="586855"/>
            <a:ext cx="2401025" cy="3387497"/>
          </a:xfrm>
        </p:spPr>
        <p:txBody>
          <a:bodyPr anchor="b">
            <a:normAutofit/>
          </a:bodyPr>
          <a:lstStyle/>
          <a:p>
            <a:r>
              <a:rPr lang="en-US" sz="3500" b="1" i="1" dirty="0">
                <a:solidFill>
                  <a:srgbClr val="FFFFFF"/>
                </a:solidFill>
                <a:latin typeface="Calibri" pitchFamily="34" charset="0"/>
                <a:cs typeface="Calibri" pitchFamily="34" charset="-120"/>
              </a:rPr>
              <a:t>Project Objective</a:t>
            </a:r>
          </a:p>
        </p:txBody>
      </p:sp>
      <p:sp>
        <p:nvSpPr>
          <p:cNvPr id="3" name="Content Placeholder 2">
            <a:extLst>
              <a:ext uri="{FF2B5EF4-FFF2-40B4-BE49-F238E27FC236}">
                <a16:creationId xmlns:a16="http://schemas.microsoft.com/office/drawing/2014/main" id="{37416AE7-AF83-8C7E-72DD-B5140624FBEF}"/>
              </a:ext>
            </a:extLst>
          </p:cNvPr>
          <p:cNvSpPr>
            <a:spLocks noGrp="1"/>
          </p:cNvSpPr>
          <p:nvPr>
            <p:ph idx="1"/>
          </p:nvPr>
        </p:nvSpPr>
        <p:spPr>
          <a:xfrm>
            <a:off x="3272589" y="649480"/>
            <a:ext cx="5251615" cy="5546047"/>
          </a:xfrm>
        </p:spPr>
        <p:txBody>
          <a:bodyPr anchor="ctr">
            <a:normAutofit/>
          </a:bodyPr>
          <a:lstStyle/>
          <a:p>
            <a:pPr>
              <a:lnSpc>
                <a:spcPct val="90000"/>
              </a:lnSpc>
              <a:buFont typeface="Wingdings" pitchFamily="2" charset="2"/>
              <a:buChar char="v"/>
            </a:pPr>
            <a:r>
              <a:rPr lang="en-US" sz="1800" dirty="0"/>
              <a:t>Identify diabetic ICU patients</a:t>
            </a:r>
          </a:p>
          <a:p>
            <a:pPr marL="0" indent="0">
              <a:lnSpc>
                <a:spcPct val="90000"/>
              </a:lnSpc>
              <a:buNone/>
            </a:pPr>
            <a:endParaRPr lang="en-US" sz="1800" dirty="0"/>
          </a:p>
          <a:p>
            <a:pPr lvl="1">
              <a:lnSpc>
                <a:spcPct val="90000"/>
              </a:lnSpc>
              <a:buFont typeface="Wingdings" pitchFamily="2" charset="2"/>
              <a:buChar char="Ø"/>
            </a:pPr>
            <a:r>
              <a:rPr lang="en-US" sz="1800" dirty="0"/>
              <a:t>Build structured features</a:t>
            </a:r>
          </a:p>
          <a:p>
            <a:pPr lvl="1">
              <a:lnSpc>
                <a:spcPct val="90000"/>
              </a:lnSpc>
              <a:buFont typeface="Wingdings" pitchFamily="2" charset="2"/>
              <a:buChar char="Ø"/>
            </a:pPr>
            <a:r>
              <a:rPr lang="en-US" sz="1800" dirty="0"/>
              <a:t>Predict ICU LOS category</a:t>
            </a:r>
          </a:p>
          <a:p>
            <a:pPr lvl="1">
              <a:lnSpc>
                <a:spcPct val="90000"/>
              </a:lnSpc>
              <a:buFont typeface="Wingdings" pitchFamily="2" charset="2"/>
              <a:buChar char="Ø"/>
            </a:pPr>
            <a:r>
              <a:rPr lang="en-US" sz="1800" dirty="0"/>
              <a:t>Teach the process clearly and reproducibly</a:t>
            </a:r>
          </a:p>
          <a:p>
            <a:pPr marL="457200" lvl="1" indent="0">
              <a:lnSpc>
                <a:spcPct val="90000"/>
              </a:lnSpc>
              <a:buNone/>
            </a:pPr>
            <a:endParaRPr lang="en-US" sz="1800" dirty="0"/>
          </a:p>
          <a:p>
            <a:pPr marL="457200" lvl="1" indent="0">
              <a:lnSpc>
                <a:spcPct val="90000"/>
              </a:lnSpc>
              <a:buNone/>
            </a:pPr>
            <a:endParaRPr lang="en-US" sz="1800" dirty="0"/>
          </a:p>
          <a:p>
            <a:pPr marL="457200" lvl="1" indent="0">
              <a:lnSpc>
                <a:spcPct val="90000"/>
              </a:lnSpc>
              <a:buNone/>
            </a:pPr>
            <a:endParaRPr lang="en-US" sz="1800" dirty="0"/>
          </a:p>
        </p:txBody>
      </p:sp>
    </p:spTree>
    <p:extLst>
      <p:ext uri="{BB962C8B-B14F-4D97-AF65-F5344CB8AC3E}">
        <p14:creationId xmlns:p14="http://schemas.microsoft.com/office/powerpoint/2010/main" val="334957602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9F21B984-45B9-0670-8612-06AB0F132316}"/>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09588DA8-065E-4F6F-8EFD-43104AB2E0C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144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useBgFill="1">
        <p:nvSpPr>
          <p:cNvPr id="10" name="Rectangle 9">
            <a:extLst>
              <a:ext uri="{FF2B5EF4-FFF2-40B4-BE49-F238E27FC236}">
                <a16:creationId xmlns:a16="http://schemas.microsoft.com/office/drawing/2014/main" id="{C4285719-470E-454C-AF62-8323075F1F5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141714"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CD9FE4EF-C4D8-49A0-B2FF-81D8DB7D8A2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914813" y="1914812"/>
            <a:ext cx="6858000" cy="3028377"/>
          </a:xfrm>
          <a:prstGeom prst="rect">
            <a:avLst/>
          </a:prstGeom>
          <a:gradFill>
            <a:gsLst>
              <a:gs pos="8000">
                <a:srgbClr val="000000"/>
              </a:gs>
              <a:gs pos="100000">
                <a:schemeClr val="accent1">
                  <a:lumMod val="75000"/>
                </a:schemeClr>
              </a:gs>
            </a:gsLst>
            <a:lin ang="3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4300840D-0A0B-4512-BACA-B439D5B9C57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914814" y="1924949"/>
            <a:ext cx="6857999" cy="3028379"/>
          </a:xfrm>
          <a:prstGeom prst="rect">
            <a:avLst/>
          </a:prstGeom>
          <a:gradFill>
            <a:gsLst>
              <a:gs pos="0">
                <a:srgbClr val="000000">
                  <a:alpha val="0"/>
                </a:srgbClr>
              </a:gs>
              <a:gs pos="99000">
                <a:schemeClr val="accent1">
                  <a:alpha val="46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a:extLst>
              <a:ext uri="{FF2B5EF4-FFF2-40B4-BE49-F238E27FC236}">
                <a16:creationId xmlns:a16="http://schemas.microsoft.com/office/drawing/2014/main" id="{D2B78728-A580-49A7-84F9-6EF6F583ADE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263195" y="4092815"/>
            <a:ext cx="2501979" cy="3028381"/>
          </a:xfrm>
          <a:prstGeom prst="rect">
            <a:avLst/>
          </a:prstGeom>
          <a:gradFill>
            <a:gsLst>
              <a:gs pos="2000">
                <a:schemeClr val="accent1">
                  <a:alpha val="29000"/>
                </a:schemeClr>
              </a:gs>
              <a:gs pos="100000">
                <a:srgbClr val="000000">
                  <a:alpha val="30000"/>
                </a:srgb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8" name="Freeform: Shape 17">
            <a:extLst>
              <a:ext uri="{FF2B5EF4-FFF2-40B4-BE49-F238E27FC236}">
                <a16:creationId xmlns:a16="http://schemas.microsoft.com/office/drawing/2014/main" id="{38FAA1A1-D861-433F-88FA-1E9D6FD31D1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20635413">
            <a:off x="-376302" y="969718"/>
            <a:ext cx="2925267" cy="4178958"/>
          </a:xfrm>
          <a:custGeom>
            <a:avLst/>
            <a:gdLst>
              <a:gd name="connsiteX0" fmla="*/ 2432225 w 3900357"/>
              <a:gd name="connsiteY0" fmla="*/ 93939 h 4178958"/>
              <a:gd name="connsiteX1" fmla="*/ 3900357 w 3900357"/>
              <a:gd name="connsiteY1" fmla="*/ 2089479 h 4178958"/>
              <a:gd name="connsiteX2" fmla="*/ 1810878 w 3900357"/>
              <a:gd name="connsiteY2" fmla="*/ 4178958 h 4178958"/>
              <a:gd name="connsiteX3" fmla="*/ 78249 w 3900357"/>
              <a:gd name="connsiteY3" fmla="*/ 3257727 h 4178958"/>
              <a:gd name="connsiteX4" fmla="*/ 0 w 3900357"/>
              <a:gd name="connsiteY4" fmla="*/ 3128923 h 4178958"/>
              <a:gd name="connsiteX5" fmla="*/ 831324 w 3900357"/>
              <a:gd name="connsiteY5" fmla="*/ 244281 h 4178958"/>
              <a:gd name="connsiteX6" fmla="*/ 997559 w 3900357"/>
              <a:gd name="connsiteY6" fmla="*/ 164202 h 4178958"/>
              <a:gd name="connsiteX7" fmla="*/ 1810878 w 3900357"/>
              <a:gd name="connsiteY7" fmla="*/ 0 h 4178958"/>
              <a:gd name="connsiteX8" fmla="*/ 2432225 w 3900357"/>
              <a:gd name="connsiteY8" fmla="*/ 93939 h 41789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900357" h="4178958">
                <a:moveTo>
                  <a:pt x="2432225" y="93939"/>
                </a:moveTo>
                <a:cubicBezTo>
                  <a:pt x="3282786" y="358491"/>
                  <a:pt x="3900357" y="1151865"/>
                  <a:pt x="3900357" y="2089479"/>
                </a:cubicBezTo>
                <a:cubicBezTo>
                  <a:pt x="3900357" y="3243466"/>
                  <a:pt x="2964865" y="4178958"/>
                  <a:pt x="1810878" y="4178958"/>
                </a:cubicBezTo>
                <a:cubicBezTo>
                  <a:pt x="1089636" y="4178958"/>
                  <a:pt x="453744" y="3813531"/>
                  <a:pt x="78249" y="3257727"/>
                </a:cubicBezTo>
                <a:lnTo>
                  <a:pt x="0" y="3128923"/>
                </a:lnTo>
                <a:lnTo>
                  <a:pt x="831324" y="244281"/>
                </a:lnTo>
                <a:lnTo>
                  <a:pt x="997559" y="164202"/>
                </a:lnTo>
                <a:cubicBezTo>
                  <a:pt x="1247540" y="58468"/>
                  <a:pt x="1522381" y="0"/>
                  <a:pt x="1810878" y="0"/>
                </a:cubicBezTo>
                <a:cubicBezTo>
                  <a:pt x="2027251" y="0"/>
                  <a:pt x="2235942" y="32888"/>
                  <a:pt x="2432225" y="93939"/>
                </a:cubicBezTo>
                <a:close/>
              </a:path>
            </a:pathLst>
          </a:custGeom>
          <a:gradFill>
            <a:gsLst>
              <a:gs pos="29000">
                <a:srgbClr val="000000">
                  <a:alpha val="0"/>
                </a:srgbClr>
              </a:gs>
              <a:gs pos="100000">
                <a:schemeClr val="accent1">
                  <a:alpha val="43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20" name="Rectangle 19">
            <a:extLst>
              <a:ext uri="{FF2B5EF4-FFF2-40B4-BE49-F238E27FC236}">
                <a16:creationId xmlns:a16="http://schemas.microsoft.com/office/drawing/2014/main" id="{8D71EDA1-87BF-4D5D-AB79-F346FD19278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914820" y="1904672"/>
            <a:ext cx="6858003" cy="3028376"/>
          </a:xfrm>
          <a:prstGeom prst="rect">
            <a:avLst/>
          </a:prstGeom>
          <a:gradFill>
            <a:gsLst>
              <a:gs pos="0">
                <a:srgbClr val="000000">
                  <a:alpha val="0"/>
                </a:srgbClr>
              </a:gs>
              <a:gs pos="99000">
                <a:schemeClr val="accent1">
                  <a:lumMod val="60000"/>
                  <a:lumOff val="40000"/>
                  <a:alpha val="11000"/>
                </a:schemeClr>
              </a:gs>
            </a:gsLst>
            <a:lin ang="7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B2A74A5F-AED0-F9DF-F5D1-EEE071280F54}"/>
              </a:ext>
            </a:extLst>
          </p:cNvPr>
          <p:cNvSpPr>
            <a:spLocks noGrp="1"/>
          </p:cNvSpPr>
          <p:nvPr>
            <p:ph type="title"/>
          </p:nvPr>
        </p:nvSpPr>
        <p:spPr>
          <a:xfrm>
            <a:off x="350041" y="586855"/>
            <a:ext cx="2401025" cy="3387497"/>
          </a:xfrm>
        </p:spPr>
        <p:txBody>
          <a:bodyPr anchor="b">
            <a:normAutofit/>
          </a:bodyPr>
          <a:lstStyle/>
          <a:p>
            <a:pPr algn="r"/>
            <a:r>
              <a:rPr lang="en-US" sz="3500" b="1" i="1" dirty="0">
                <a:solidFill>
                  <a:srgbClr val="FFFFFF"/>
                </a:solidFill>
                <a:latin typeface="Calibri" pitchFamily="34" charset="0"/>
                <a:cs typeface="Calibri" pitchFamily="34" charset="-120"/>
              </a:rPr>
              <a:t>Research Question</a:t>
            </a:r>
          </a:p>
        </p:txBody>
      </p:sp>
      <p:sp>
        <p:nvSpPr>
          <p:cNvPr id="3" name="Content Placeholder 2">
            <a:extLst>
              <a:ext uri="{FF2B5EF4-FFF2-40B4-BE49-F238E27FC236}">
                <a16:creationId xmlns:a16="http://schemas.microsoft.com/office/drawing/2014/main" id="{25BF87E3-62C8-3C9D-853F-699B632EEFD4}"/>
              </a:ext>
            </a:extLst>
          </p:cNvPr>
          <p:cNvSpPr>
            <a:spLocks noGrp="1"/>
          </p:cNvSpPr>
          <p:nvPr>
            <p:ph idx="1"/>
          </p:nvPr>
        </p:nvSpPr>
        <p:spPr>
          <a:xfrm>
            <a:off x="3607694" y="649480"/>
            <a:ext cx="4916510" cy="5546047"/>
          </a:xfrm>
        </p:spPr>
        <p:txBody>
          <a:bodyPr anchor="ctr">
            <a:normAutofit/>
          </a:bodyPr>
          <a:lstStyle/>
          <a:p>
            <a:pPr>
              <a:buFont typeface="Wingdings" pitchFamily="2" charset="2"/>
              <a:buChar char="v"/>
            </a:pPr>
            <a:r>
              <a:rPr lang="en-US" sz="1700" dirty="0"/>
              <a:t>Can structured MIMIC-III data predict whether a diabetic ICU patient will have:</a:t>
            </a:r>
          </a:p>
          <a:p>
            <a:pPr lvl="1">
              <a:buFont typeface="Wingdings" pitchFamily="2" charset="2"/>
              <a:buChar char="Ø"/>
            </a:pPr>
            <a:r>
              <a:rPr lang="en-US" sz="1300" dirty="0"/>
              <a:t>Short stay</a:t>
            </a:r>
          </a:p>
          <a:p>
            <a:pPr lvl="1">
              <a:buFont typeface="Wingdings" pitchFamily="2" charset="2"/>
              <a:buChar char="Ø"/>
            </a:pPr>
            <a:r>
              <a:rPr lang="en-US" sz="1300" dirty="0"/>
              <a:t>Medium stay</a:t>
            </a:r>
          </a:p>
          <a:p>
            <a:pPr lvl="1">
              <a:buFont typeface="Wingdings" pitchFamily="2" charset="2"/>
              <a:buChar char="Ø"/>
            </a:pPr>
            <a:r>
              <a:rPr lang="en-US" sz="1300" dirty="0"/>
              <a:t>Long stay</a:t>
            </a:r>
          </a:p>
          <a:p>
            <a:pPr marL="457200" lvl="1" indent="0">
              <a:buNone/>
            </a:pPr>
            <a:endParaRPr lang="en-US" sz="1700" dirty="0"/>
          </a:p>
          <a:p>
            <a:pPr marL="457200" lvl="1" indent="0">
              <a:buNone/>
            </a:pPr>
            <a:endParaRPr lang="en-US" sz="1700" dirty="0"/>
          </a:p>
          <a:p>
            <a:pPr marL="457200" lvl="1" indent="0">
              <a:buNone/>
            </a:pPr>
            <a:endParaRPr lang="en-US" sz="1700" dirty="0"/>
          </a:p>
          <a:p>
            <a:pPr marL="457200" lvl="1" indent="0">
              <a:buNone/>
            </a:pPr>
            <a:endParaRPr lang="en-US" sz="3500" b="1" i="1" dirty="0">
              <a:solidFill>
                <a:srgbClr val="FFFFFF"/>
              </a:solidFill>
              <a:latin typeface="Calibri" pitchFamily="34" charset="0"/>
              <a:ea typeface="+mj-ea"/>
              <a:cs typeface="Calibri" pitchFamily="34" charset="-120"/>
            </a:endParaRPr>
          </a:p>
        </p:txBody>
      </p:sp>
    </p:spTree>
    <p:extLst>
      <p:ext uri="{BB962C8B-B14F-4D97-AF65-F5344CB8AC3E}">
        <p14:creationId xmlns:p14="http://schemas.microsoft.com/office/powerpoint/2010/main" val="159507907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E5673A0F-3D02-E9DB-F265-CFFFE80F64E5}"/>
            </a:ext>
          </a:extLst>
        </p:cNvPr>
        <p:cNvGrpSpPr/>
        <p:nvPr/>
      </p:nvGrpSpPr>
      <p:grpSpPr>
        <a:xfrm>
          <a:off x="0" y="0"/>
          <a:ext cx="0" cy="0"/>
          <a:chOff x="0" y="0"/>
          <a:chExt cx="0" cy="0"/>
        </a:xfrm>
      </p:grpSpPr>
      <p:sp>
        <p:nvSpPr>
          <p:cNvPr id="16" name="Rectangle 15">
            <a:extLst>
              <a:ext uri="{FF2B5EF4-FFF2-40B4-BE49-F238E27FC236}">
                <a16:creationId xmlns:a16="http://schemas.microsoft.com/office/drawing/2014/main" id="{C5278130-DFE0-457B-8698-88DF69019DD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143" y="0"/>
            <a:ext cx="9141714"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a:p>
        </p:txBody>
      </p:sp>
      <p:sp>
        <p:nvSpPr>
          <p:cNvPr id="18" name="Rectangle 17">
            <a:extLst>
              <a:ext uri="{FF2B5EF4-FFF2-40B4-BE49-F238E27FC236}">
                <a16:creationId xmlns:a16="http://schemas.microsoft.com/office/drawing/2014/main" id="{2F99531B-1681-4D6E-BECB-18325B33A61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143" y="0"/>
            <a:ext cx="9141714" cy="6858000"/>
          </a:xfrm>
          <a:prstGeom prst="rect">
            <a:avLst/>
          </a:prstGeom>
          <a:solidFill>
            <a:schemeClr val="bg2">
              <a:alpha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a:p>
        </p:txBody>
      </p:sp>
      <p:sp>
        <p:nvSpPr>
          <p:cNvPr id="25" name="Rectangle 24">
            <a:extLst>
              <a:ext uri="{FF2B5EF4-FFF2-40B4-BE49-F238E27FC236}">
                <a16:creationId xmlns:a16="http://schemas.microsoft.com/office/drawing/2014/main" id="{B908E8DC-1025-4FCC-873D-DC5C2ADEF3B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108743" y="699899"/>
            <a:ext cx="8035257" cy="5433318"/>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00D02B58-732A-ADA4-B0C0-4D85EEEC2BFB}"/>
              </a:ext>
            </a:extLst>
          </p:cNvPr>
          <p:cNvSpPr>
            <a:spLocks noGrp="1"/>
          </p:cNvSpPr>
          <p:nvPr>
            <p:ph type="title"/>
          </p:nvPr>
        </p:nvSpPr>
        <p:spPr>
          <a:xfrm>
            <a:off x="88900" y="2280067"/>
            <a:ext cx="4381500" cy="717133"/>
          </a:xfrm>
        </p:spPr>
        <p:txBody>
          <a:bodyPr anchor="b">
            <a:normAutofit fontScale="90000"/>
          </a:bodyPr>
          <a:lstStyle/>
          <a:p>
            <a:r>
              <a:rPr lang="en-US" sz="4200" b="1" i="1" dirty="0">
                <a:latin typeface="Calibri" pitchFamily="34" charset="0"/>
                <a:cs typeface="Calibri" pitchFamily="34" charset="-120"/>
              </a:rPr>
              <a:t>Cohort Selection</a:t>
            </a:r>
          </a:p>
        </p:txBody>
      </p:sp>
      <p:sp>
        <p:nvSpPr>
          <p:cNvPr id="3" name="Content Placeholder 2">
            <a:extLst>
              <a:ext uri="{FF2B5EF4-FFF2-40B4-BE49-F238E27FC236}">
                <a16:creationId xmlns:a16="http://schemas.microsoft.com/office/drawing/2014/main" id="{1DE50881-DAAD-9678-B034-DCF1E0EA58E9}"/>
              </a:ext>
            </a:extLst>
          </p:cNvPr>
          <p:cNvSpPr>
            <a:spLocks noGrp="1"/>
          </p:cNvSpPr>
          <p:nvPr>
            <p:ph idx="1"/>
          </p:nvPr>
        </p:nvSpPr>
        <p:spPr>
          <a:xfrm>
            <a:off x="317174" y="3045552"/>
            <a:ext cx="3205955" cy="3095445"/>
          </a:xfrm>
        </p:spPr>
        <p:txBody>
          <a:bodyPr anchor="t">
            <a:normAutofit/>
          </a:bodyPr>
          <a:lstStyle/>
          <a:p>
            <a:pPr lvl="1">
              <a:lnSpc>
                <a:spcPct val="90000"/>
              </a:lnSpc>
              <a:buFont typeface="Wingdings" pitchFamily="2" charset="2"/>
              <a:buChar char="Ø"/>
            </a:pPr>
            <a:r>
              <a:rPr lang="en-US" sz="1500" dirty="0"/>
              <a:t>ICU patients only</a:t>
            </a:r>
          </a:p>
          <a:p>
            <a:pPr lvl="1">
              <a:lnSpc>
                <a:spcPct val="90000"/>
              </a:lnSpc>
              <a:buFont typeface="Wingdings" pitchFamily="2" charset="2"/>
              <a:buChar char="Ø"/>
            </a:pPr>
            <a:r>
              <a:rPr lang="en-US" sz="1500" dirty="0"/>
              <a:t>Diabetes identified with ICD-9 codes starting with 250</a:t>
            </a:r>
          </a:p>
          <a:p>
            <a:pPr lvl="1">
              <a:lnSpc>
                <a:spcPct val="90000"/>
              </a:lnSpc>
              <a:buFont typeface="Wingdings" pitchFamily="2" charset="2"/>
              <a:buChar char="Ø"/>
            </a:pPr>
            <a:r>
              <a:rPr lang="en-US" sz="1500" dirty="0"/>
              <a:t>Merge tables using </a:t>
            </a:r>
            <a:r>
              <a:rPr lang="en-US" sz="1500" dirty="0" err="1"/>
              <a:t>subject_id</a:t>
            </a:r>
            <a:r>
              <a:rPr lang="en-US" sz="1500" dirty="0"/>
              <a:t> and </a:t>
            </a:r>
            <a:r>
              <a:rPr lang="en-US" sz="1500" dirty="0" err="1"/>
              <a:t>hadm_id</a:t>
            </a:r>
            <a:endParaRPr lang="en-US" sz="1500" dirty="0"/>
          </a:p>
          <a:p>
            <a:pPr lvl="1">
              <a:lnSpc>
                <a:spcPct val="90000"/>
              </a:lnSpc>
              <a:buFont typeface="Wingdings" pitchFamily="2" charset="2"/>
              <a:buChar char="Ø"/>
            </a:pPr>
            <a:r>
              <a:rPr lang="en-US" sz="1500" dirty="0"/>
              <a:t>Clean missing or unrealistic values</a:t>
            </a:r>
          </a:p>
          <a:p>
            <a:pPr marL="457200" lvl="1" indent="0">
              <a:lnSpc>
                <a:spcPct val="90000"/>
              </a:lnSpc>
              <a:buNone/>
            </a:pPr>
            <a:endParaRPr lang="en-US" sz="1500" dirty="0"/>
          </a:p>
          <a:p>
            <a:pPr marL="457200" lvl="1" indent="0">
              <a:lnSpc>
                <a:spcPct val="90000"/>
              </a:lnSpc>
              <a:buNone/>
            </a:pPr>
            <a:endParaRPr lang="en-US" sz="1500" dirty="0"/>
          </a:p>
          <a:p>
            <a:pPr marL="457200" lvl="1" indent="0">
              <a:lnSpc>
                <a:spcPct val="90000"/>
              </a:lnSpc>
              <a:buNone/>
            </a:pPr>
            <a:endParaRPr lang="en-US" sz="1500" b="1" i="1" dirty="0">
              <a:latin typeface="Calibri" pitchFamily="34" charset="0"/>
              <a:ea typeface="+mj-ea"/>
              <a:cs typeface="Calibri" pitchFamily="34" charset="-120"/>
            </a:endParaRPr>
          </a:p>
        </p:txBody>
      </p:sp>
      <p:pic>
        <p:nvPicPr>
          <p:cNvPr id="5" name="Picture 4" descr="A stethoscope in white background">
            <a:extLst>
              <a:ext uri="{FF2B5EF4-FFF2-40B4-BE49-F238E27FC236}">
                <a16:creationId xmlns:a16="http://schemas.microsoft.com/office/drawing/2014/main" id="{D33A11B0-AFA2-6259-D921-FD4DA122A05C}"/>
              </a:ext>
            </a:extLst>
          </p:cNvPr>
          <p:cNvPicPr>
            <a:picLocks noChangeAspect="1"/>
          </p:cNvPicPr>
          <p:nvPr/>
        </p:nvPicPr>
        <p:blipFill>
          <a:blip r:embed="rId3"/>
          <a:srcRect l="51693" r="18786" b="-2"/>
          <a:stretch>
            <a:fillRect/>
          </a:stretch>
        </p:blipFill>
        <p:spPr>
          <a:xfrm>
            <a:off x="0" y="-11780"/>
            <a:ext cx="1968490" cy="2017086"/>
          </a:xfrm>
          <a:prstGeom prst="rect">
            <a:avLst/>
          </a:prstGeom>
        </p:spPr>
      </p:pic>
      <p:pic>
        <p:nvPicPr>
          <p:cNvPr id="7" name="Picture 6">
            <a:extLst>
              <a:ext uri="{FF2B5EF4-FFF2-40B4-BE49-F238E27FC236}">
                <a16:creationId xmlns:a16="http://schemas.microsoft.com/office/drawing/2014/main" id="{95C00805-EA80-ED07-4F86-BC5613CA325B}"/>
              </a:ext>
            </a:extLst>
          </p:cNvPr>
          <p:cNvPicPr>
            <a:picLocks noChangeAspect="1"/>
          </p:cNvPicPr>
          <p:nvPr/>
        </p:nvPicPr>
        <p:blipFill>
          <a:blip r:embed="rId4"/>
          <a:srcRect l="5025" r="33337" b="3"/>
          <a:stretch>
            <a:fillRect/>
          </a:stretch>
        </p:blipFill>
        <p:spPr>
          <a:xfrm>
            <a:off x="4572000" y="-1"/>
            <a:ext cx="4236663" cy="6133217"/>
          </a:xfrm>
          <a:prstGeom prst="rect">
            <a:avLst/>
          </a:prstGeom>
        </p:spPr>
      </p:pic>
      <p:cxnSp>
        <p:nvCxnSpPr>
          <p:cNvPr id="27" name="Straight Connector 26">
            <a:extLst>
              <a:ext uri="{FF2B5EF4-FFF2-40B4-BE49-F238E27FC236}">
                <a16:creationId xmlns:a16="http://schemas.microsoft.com/office/drawing/2014/main" id="{F085D7B9-E066-4923-8CB7-294BF306296A}"/>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V="1">
            <a:off x="8524492" y="0"/>
            <a:ext cx="0" cy="6858000"/>
          </a:xfrm>
          <a:prstGeom prst="line">
            <a:avLst/>
          </a:prstGeom>
          <a:ln w="9525" cap="rnd">
            <a:solidFill>
              <a:schemeClr val="accent1"/>
            </a:solidFill>
            <a:prstDash val="dash"/>
          </a:ln>
        </p:spPr>
        <p:style>
          <a:lnRef idx="1">
            <a:schemeClr val="accent1"/>
          </a:lnRef>
          <a:fillRef idx="0">
            <a:schemeClr val="accent1"/>
          </a:fillRef>
          <a:effectRef idx="0">
            <a:schemeClr val="accent1"/>
          </a:effectRef>
          <a:fontRef idx="minor">
            <a:schemeClr val="tx1"/>
          </a:fontRef>
        </p:style>
      </p:cxnSp>
      <p:sp>
        <p:nvSpPr>
          <p:cNvPr id="24" name="Rectangle 23">
            <a:extLst>
              <a:ext uri="{FF2B5EF4-FFF2-40B4-BE49-F238E27FC236}">
                <a16:creationId xmlns:a16="http://schemas.microsoft.com/office/drawing/2014/main" id="{9B57D9A5-B0E6-43E8-854F-D4931B715AD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810892" y="706072"/>
            <a:ext cx="334189" cy="5445849"/>
          </a:xfrm>
          <a:prstGeom prst="rect">
            <a:avLst/>
          </a:prstGeom>
          <a:solidFill>
            <a:schemeClr val="accent1">
              <a:alpha val="25000"/>
            </a:schemeClr>
          </a:solidFill>
          <a:ln w="25400" cap="flat">
            <a:noFill/>
            <a:prstDash val="solid"/>
            <a:round/>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0" tIns="0" rIns="0" bIns="0" numCol="1" spcCol="38100" rtlCol="0" anchor="ctr">
            <a:spAutoFit/>
          </a:bodyPr>
          <a:lstStyle/>
          <a:p>
            <a:pPr marL="0" marR="0" indent="0" algn="ctr" defTabSz="825500" rtl="0" fontAlgn="auto" latinLnBrk="0" hangingPunct="0">
              <a:lnSpc>
                <a:spcPct val="100000"/>
              </a:lnSpc>
              <a:spcBef>
                <a:spcPts val="0"/>
              </a:spcBef>
              <a:spcAft>
                <a:spcPts val="0"/>
              </a:spcAft>
              <a:buClrTx/>
              <a:buSzTx/>
              <a:buFontTx/>
              <a:buNone/>
              <a:tabLst/>
            </a:pPr>
            <a:endParaRPr kumimoji="0" lang="en-US" sz="3000" b="0" i="0" u="none" strike="noStrike" cap="none" spc="0" normalizeH="0" baseline="0">
              <a:ln>
                <a:noFill/>
              </a:ln>
              <a:solidFill>
                <a:srgbClr val="000000"/>
              </a:solidFill>
              <a:effectLst/>
              <a:uFillTx/>
              <a:latin typeface="Helvetica Neue Medium"/>
              <a:ea typeface="Helvetica Neue Medium"/>
              <a:cs typeface="Helvetica Neue Medium"/>
              <a:sym typeface="Helvetica Neue Medium"/>
            </a:endParaRPr>
          </a:p>
        </p:txBody>
      </p:sp>
      <p:cxnSp>
        <p:nvCxnSpPr>
          <p:cNvPr id="26" name="Straight Connector 25">
            <a:extLst>
              <a:ext uri="{FF2B5EF4-FFF2-40B4-BE49-F238E27FC236}">
                <a16:creationId xmlns:a16="http://schemas.microsoft.com/office/drawing/2014/main" id="{25443840-A796-4C43-8DC1-1B738EFEC522}"/>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0" y="6146320"/>
            <a:ext cx="9144000" cy="0"/>
          </a:xfrm>
          <a:prstGeom prst="line">
            <a:avLst/>
          </a:prstGeom>
          <a:ln w="9525" cap="rnd">
            <a:solidFill>
              <a:schemeClr val="accent1"/>
            </a:solidFill>
            <a:prstDash val="dash"/>
          </a:ln>
        </p:spPr>
        <p:style>
          <a:lnRef idx="1">
            <a:schemeClr val="accent1"/>
          </a:lnRef>
          <a:fillRef idx="0">
            <a:schemeClr val="accent1"/>
          </a:fillRef>
          <a:effectRef idx="0">
            <a:schemeClr val="accent1"/>
          </a:effectRef>
          <a:fontRef idx="minor">
            <a:schemeClr val="tx1"/>
          </a:fontRef>
        </p:style>
      </p:cxnSp>
      <p:sp>
        <p:nvSpPr>
          <p:cNvPr id="4" name="TextBox 3">
            <a:extLst>
              <a:ext uri="{FF2B5EF4-FFF2-40B4-BE49-F238E27FC236}">
                <a16:creationId xmlns:a16="http://schemas.microsoft.com/office/drawing/2014/main" id="{898CC735-2AF7-78BA-CE63-DCE581709D88}"/>
              </a:ext>
            </a:extLst>
          </p:cNvPr>
          <p:cNvSpPr txBox="1"/>
          <p:nvPr/>
        </p:nvSpPr>
        <p:spPr>
          <a:xfrm>
            <a:off x="4995512" y="4562375"/>
            <a:ext cx="184731" cy="369332"/>
          </a:xfrm>
          <a:prstGeom prst="rect">
            <a:avLst/>
          </a:prstGeom>
          <a:noFill/>
        </p:spPr>
        <p:txBody>
          <a:bodyPr wrap="none" rtlCol="0">
            <a:spAutoFit/>
          </a:bodyPr>
          <a:lstStyle/>
          <a:p>
            <a:endParaRPr lang="en-US" dirty="0"/>
          </a:p>
        </p:txBody>
      </p:sp>
    </p:spTree>
    <p:extLst>
      <p:ext uri="{BB962C8B-B14F-4D97-AF65-F5344CB8AC3E}">
        <p14:creationId xmlns:p14="http://schemas.microsoft.com/office/powerpoint/2010/main" val="207427214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8981F64A-6D83-68FC-C2AD-214DD3D51E8B}"/>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7A203437-703A-4E00-A8C0-91D328D6C7C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4233"/>
            <a:ext cx="9144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85A272AE-6DA7-5397-F976-CE259A69A1DD}"/>
              </a:ext>
            </a:extLst>
          </p:cNvPr>
          <p:cNvSpPr>
            <a:spLocks noGrp="1"/>
          </p:cNvSpPr>
          <p:nvPr>
            <p:ph type="title"/>
          </p:nvPr>
        </p:nvSpPr>
        <p:spPr>
          <a:xfrm>
            <a:off x="441756" y="502400"/>
            <a:ext cx="2525379" cy="1818064"/>
          </a:xfrm>
        </p:spPr>
        <p:txBody>
          <a:bodyPr>
            <a:normAutofit/>
          </a:bodyPr>
          <a:lstStyle/>
          <a:p>
            <a:r>
              <a:rPr lang="en-US" sz="2400"/>
              <a:t>Feature Engineering</a:t>
            </a:r>
            <a:endParaRPr lang="en-US" sz="2400" b="1" i="1">
              <a:latin typeface="Calibri" pitchFamily="34" charset="0"/>
              <a:cs typeface="Calibri" pitchFamily="34" charset="-120"/>
            </a:endParaRPr>
          </a:p>
        </p:txBody>
      </p:sp>
      <p:pic>
        <p:nvPicPr>
          <p:cNvPr id="4" name="Picture 3">
            <a:extLst>
              <a:ext uri="{FF2B5EF4-FFF2-40B4-BE49-F238E27FC236}">
                <a16:creationId xmlns:a16="http://schemas.microsoft.com/office/drawing/2014/main" id="{E7DDE0CA-7881-E327-D238-848E53428BE9}"/>
              </a:ext>
            </a:extLst>
          </p:cNvPr>
          <p:cNvPicPr>
            <a:picLocks noChangeAspect="1"/>
          </p:cNvPicPr>
          <p:nvPr/>
        </p:nvPicPr>
        <p:blipFill>
          <a:blip r:embed="rId3"/>
          <a:srcRect t="19105" b="3719"/>
          <a:stretch>
            <a:fillRect/>
          </a:stretch>
        </p:blipFill>
        <p:spPr>
          <a:xfrm>
            <a:off x="3416427" y="6"/>
            <a:ext cx="5727572" cy="2762724"/>
          </a:xfrm>
          <a:prstGeom prst="rect">
            <a:avLst/>
          </a:prstGeom>
        </p:spPr>
      </p:pic>
      <p:sp>
        <p:nvSpPr>
          <p:cNvPr id="12" name="Rectangle 11">
            <a:extLst>
              <a:ext uri="{FF2B5EF4-FFF2-40B4-BE49-F238E27FC236}">
                <a16:creationId xmlns:a16="http://schemas.microsoft.com/office/drawing/2014/main" id="{CD84038B-4A56-439B-A184-79B2D450669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762729"/>
            <a:ext cx="9144000" cy="64008"/>
          </a:xfrm>
          <a:prstGeom prst="rect">
            <a:avLst/>
          </a:prstGeom>
          <a:solidFill>
            <a:schemeClr val="tx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tx2"/>
              </a:solidFill>
            </a:endParaRPr>
          </a:p>
        </p:txBody>
      </p:sp>
      <p:pic>
        <p:nvPicPr>
          <p:cNvPr id="5" name="Picture 4" descr="A stethoscope in white background">
            <a:extLst>
              <a:ext uri="{FF2B5EF4-FFF2-40B4-BE49-F238E27FC236}">
                <a16:creationId xmlns:a16="http://schemas.microsoft.com/office/drawing/2014/main" id="{A8585902-AB64-3416-D489-F57566921C27}"/>
              </a:ext>
            </a:extLst>
          </p:cNvPr>
          <p:cNvPicPr>
            <a:picLocks noChangeAspect="1"/>
          </p:cNvPicPr>
          <p:nvPr/>
        </p:nvPicPr>
        <p:blipFill>
          <a:blip r:embed="rId4"/>
          <a:srcRect l="38103" r="5195" b="-2"/>
          <a:stretch>
            <a:fillRect/>
          </a:stretch>
        </p:blipFill>
        <p:spPr>
          <a:xfrm>
            <a:off x="20" y="2826737"/>
            <a:ext cx="3424313" cy="4031263"/>
          </a:xfrm>
          <a:prstGeom prst="rect">
            <a:avLst/>
          </a:prstGeom>
        </p:spPr>
      </p:pic>
      <p:sp>
        <p:nvSpPr>
          <p:cNvPr id="3" name="Content Placeholder 2">
            <a:extLst>
              <a:ext uri="{FF2B5EF4-FFF2-40B4-BE49-F238E27FC236}">
                <a16:creationId xmlns:a16="http://schemas.microsoft.com/office/drawing/2014/main" id="{4C0032B0-BF04-2312-C5C2-777B0E242E7A}"/>
              </a:ext>
            </a:extLst>
          </p:cNvPr>
          <p:cNvSpPr>
            <a:spLocks noGrp="1"/>
          </p:cNvSpPr>
          <p:nvPr>
            <p:ph idx="1"/>
          </p:nvPr>
        </p:nvSpPr>
        <p:spPr>
          <a:xfrm>
            <a:off x="3464434" y="2985008"/>
            <a:ext cx="5476366" cy="3542792"/>
          </a:xfrm>
        </p:spPr>
        <p:txBody>
          <a:bodyPr anchor="ctr">
            <a:normAutofit/>
          </a:bodyPr>
          <a:lstStyle/>
          <a:p>
            <a:pPr lvl="1">
              <a:lnSpc>
                <a:spcPct val="90000"/>
              </a:lnSpc>
              <a:buFont typeface="Wingdings" pitchFamily="2" charset="2"/>
              <a:buChar char="v"/>
            </a:pPr>
            <a:r>
              <a:rPr lang="en-US" sz="1300" dirty="0"/>
              <a:t>Age at ICU admission</a:t>
            </a:r>
          </a:p>
          <a:p>
            <a:pPr lvl="2">
              <a:lnSpc>
                <a:spcPct val="90000"/>
              </a:lnSpc>
              <a:buFont typeface="Wingdings" pitchFamily="2" charset="2"/>
              <a:buChar char="Ø"/>
            </a:pPr>
            <a:r>
              <a:rPr lang="en-US" sz="900" dirty="0"/>
              <a:t>Gender</a:t>
            </a:r>
          </a:p>
          <a:p>
            <a:pPr lvl="2">
              <a:lnSpc>
                <a:spcPct val="90000"/>
              </a:lnSpc>
              <a:buFont typeface="Wingdings" pitchFamily="2" charset="2"/>
              <a:buChar char="Ø"/>
            </a:pPr>
            <a:r>
              <a:rPr lang="en-US" sz="900" dirty="0"/>
              <a:t>Admission type</a:t>
            </a:r>
          </a:p>
          <a:p>
            <a:pPr lvl="2">
              <a:lnSpc>
                <a:spcPct val="90000"/>
              </a:lnSpc>
              <a:buFont typeface="Wingdings" pitchFamily="2" charset="2"/>
              <a:buChar char="Ø"/>
            </a:pPr>
            <a:r>
              <a:rPr lang="en-US" sz="900" dirty="0"/>
              <a:t>Insurance</a:t>
            </a:r>
          </a:p>
          <a:p>
            <a:pPr lvl="2">
              <a:lnSpc>
                <a:spcPct val="90000"/>
              </a:lnSpc>
              <a:buFont typeface="Wingdings" pitchFamily="2" charset="2"/>
              <a:buChar char="Ø"/>
            </a:pPr>
            <a:r>
              <a:rPr lang="en-US" sz="900" dirty="0"/>
              <a:t>Ethnicity</a:t>
            </a:r>
          </a:p>
          <a:p>
            <a:pPr lvl="2">
              <a:lnSpc>
                <a:spcPct val="90000"/>
              </a:lnSpc>
              <a:buFont typeface="Wingdings" pitchFamily="2" charset="2"/>
              <a:buChar char="Ø"/>
            </a:pPr>
            <a:r>
              <a:rPr lang="en-US" sz="900" dirty="0"/>
              <a:t>Number of diagnoses</a:t>
            </a:r>
          </a:p>
          <a:p>
            <a:pPr marL="457200" lvl="1" indent="0">
              <a:lnSpc>
                <a:spcPct val="90000"/>
              </a:lnSpc>
              <a:buNone/>
            </a:pPr>
            <a:endParaRPr lang="en-US" sz="1300" dirty="0"/>
          </a:p>
          <a:p>
            <a:pPr marL="457200" lvl="1" indent="0">
              <a:lnSpc>
                <a:spcPct val="90000"/>
              </a:lnSpc>
              <a:buNone/>
            </a:pPr>
            <a:endParaRPr lang="en-US" sz="1300" b="1" i="1" dirty="0">
              <a:latin typeface="Calibri" pitchFamily="34" charset="0"/>
              <a:ea typeface="+mj-ea"/>
              <a:cs typeface="Calibri" pitchFamily="34" charset="-120"/>
            </a:endParaRPr>
          </a:p>
        </p:txBody>
      </p:sp>
      <p:sp>
        <p:nvSpPr>
          <p:cNvPr id="14" name="Rectangle 13">
            <a:extLst>
              <a:ext uri="{FF2B5EF4-FFF2-40B4-BE49-F238E27FC236}">
                <a16:creationId xmlns:a16="http://schemas.microsoft.com/office/drawing/2014/main" id="{4F96EE13-2C4D-4262-812E-DDE5FC35F0A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11429" y="3404996"/>
            <a:ext cx="6858002" cy="48006"/>
          </a:xfrm>
          <a:prstGeom prst="rect">
            <a:avLst/>
          </a:prstGeom>
          <a:solidFill>
            <a:schemeClr val="tx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tx2"/>
              </a:solidFill>
            </a:endParaRPr>
          </a:p>
        </p:txBody>
      </p:sp>
    </p:spTree>
    <p:extLst>
      <p:ext uri="{BB962C8B-B14F-4D97-AF65-F5344CB8AC3E}">
        <p14:creationId xmlns:p14="http://schemas.microsoft.com/office/powerpoint/2010/main" val="191566288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19AB8108-F956-843E-16FA-96FC30C042C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CFE02D3-9DCB-98E7-7EAE-940F0038C432}"/>
              </a:ext>
            </a:extLst>
          </p:cNvPr>
          <p:cNvSpPr>
            <a:spLocks noGrp="1"/>
          </p:cNvSpPr>
          <p:nvPr>
            <p:ph type="title"/>
          </p:nvPr>
        </p:nvSpPr>
        <p:spPr>
          <a:xfrm>
            <a:off x="-193380" y="1041401"/>
            <a:ext cx="2974680" cy="673100"/>
          </a:xfrm>
        </p:spPr>
        <p:txBody>
          <a:bodyPr anchor="b">
            <a:normAutofit/>
          </a:bodyPr>
          <a:lstStyle/>
          <a:p>
            <a:r>
              <a:rPr lang="en-US" sz="2800" dirty="0"/>
              <a:t>Target Variable</a:t>
            </a:r>
            <a:endParaRPr lang="en-US" sz="2800" b="1" i="1" dirty="0">
              <a:latin typeface="Calibri" pitchFamily="34" charset="0"/>
              <a:cs typeface="Calibri" pitchFamily="34" charset="-120"/>
            </a:endParaRPr>
          </a:p>
        </p:txBody>
      </p:sp>
      <p:sp>
        <p:nvSpPr>
          <p:cNvPr id="3" name="Content Placeholder 2">
            <a:extLst>
              <a:ext uri="{FF2B5EF4-FFF2-40B4-BE49-F238E27FC236}">
                <a16:creationId xmlns:a16="http://schemas.microsoft.com/office/drawing/2014/main" id="{46952F48-F3CE-F3BD-CF3A-F2E42DB078CD}"/>
              </a:ext>
            </a:extLst>
          </p:cNvPr>
          <p:cNvSpPr>
            <a:spLocks noGrp="1"/>
          </p:cNvSpPr>
          <p:nvPr>
            <p:ph idx="1"/>
          </p:nvPr>
        </p:nvSpPr>
        <p:spPr>
          <a:xfrm>
            <a:off x="0" y="3905076"/>
            <a:ext cx="4572000" cy="1809924"/>
          </a:xfrm>
        </p:spPr>
        <p:txBody>
          <a:bodyPr anchor="t">
            <a:normAutofit/>
          </a:bodyPr>
          <a:lstStyle/>
          <a:p>
            <a:pPr lvl="1">
              <a:lnSpc>
                <a:spcPct val="90000"/>
              </a:lnSpc>
              <a:buFont typeface="Wingdings" pitchFamily="2" charset="2"/>
              <a:buChar char="Ø"/>
            </a:pPr>
            <a:r>
              <a:rPr lang="en-US" sz="1700" dirty="0"/>
              <a:t>Short stay: &lt; 2 days</a:t>
            </a:r>
          </a:p>
          <a:p>
            <a:pPr lvl="1">
              <a:lnSpc>
                <a:spcPct val="90000"/>
              </a:lnSpc>
              <a:buFont typeface="Wingdings" pitchFamily="2" charset="2"/>
              <a:buChar char="Ø"/>
            </a:pPr>
            <a:r>
              <a:rPr lang="en-US" sz="1700" dirty="0"/>
              <a:t>Medium stay: 2 to 7 days</a:t>
            </a:r>
          </a:p>
          <a:p>
            <a:pPr lvl="1">
              <a:lnSpc>
                <a:spcPct val="90000"/>
              </a:lnSpc>
              <a:buFont typeface="Wingdings" pitchFamily="2" charset="2"/>
              <a:buChar char="Ø"/>
            </a:pPr>
            <a:r>
              <a:rPr lang="en-US" sz="1700" dirty="0"/>
              <a:t>Long stay: &gt; 7 days</a:t>
            </a:r>
          </a:p>
          <a:p>
            <a:pPr marL="457200" lvl="1" indent="0">
              <a:lnSpc>
                <a:spcPct val="90000"/>
              </a:lnSpc>
              <a:buNone/>
            </a:pPr>
            <a:endParaRPr lang="en-US" sz="1700" dirty="0"/>
          </a:p>
          <a:p>
            <a:pPr marL="457200" lvl="1" indent="0">
              <a:lnSpc>
                <a:spcPct val="90000"/>
              </a:lnSpc>
              <a:buNone/>
            </a:pPr>
            <a:endParaRPr lang="en-US" sz="1700" dirty="0"/>
          </a:p>
          <a:p>
            <a:pPr marL="457200" lvl="1" indent="0">
              <a:lnSpc>
                <a:spcPct val="90000"/>
              </a:lnSpc>
              <a:buNone/>
            </a:pPr>
            <a:endParaRPr lang="en-US" sz="1700" b="1" i="1" dirty="0">
              <a:latin typeface="Calibri" pitchFamily="34" charset="0"/>
              <a:ea typeface="+mj-ea"/>
              <a:cs typeface="Calibri" pitchFamily="34" charset="-120"/>
            </a:endParaRPr>
          </a:p>
        </p:txBody>
      </p:sp>
      <p:pic>
        <p:nvPicPr>
          <p:cNvPr id="5" name="Picture 4" descr="A stethoscope in white background">
            <a:extLst>
              <a:ext uri="{FF2B5EF4-FFF2-40B4-BE49-F238E27FC236}">
                <a16:creationId xmlns:a16="http://schemas.microsoft.com/office/drawing/2014/main" id="{CB47156C-70CA-2ACC-8B65-C7213A6C1624}"/>
              </a:ext>
            </a:extLst>
          </p:cNvPr>
          <p:cNvPicPr>
            <a:picLocks noChangeAspect="1"/>
          </p:cNvPicPr>
          <p:nvPr/>
        </p:nvPicPr>
        <p:blipFill>
          <a:blip r:embed="rId3"/>
          <a:srcRect l="48272" r="15370" b="2"/>
          <a:stretch>
            <a:fillRect/>
          </a:stretch>
        </p:blipFill>
        <p:spPr>
          <a:xfrm>
            <a:off x="2517630" y="254000"/>
            <a:ext cx="2648239" cy="2899305"/>
          </a:xfrm>
          <a:prstGeom prst="rect">
            <a:avLst/>
          </a:prstGeom>
        </p:spPr>
      </p:pic>
      <p:pic>
        <p:nvPicPr>
          <p:cNvPr id="6" name="Picture 5">
            <a:extLst>
              <a:ext uri="{FF2B5EF4-FFF2-40B4-BE49-F238E27FC236}">
                <a16:creationId xmlns:a16="http://schemas.microsoft.com/office/drawing/2014/main" id="{5DE712EF-8BBB-9BF7-7D20-89C990F70623}"/>
              </a:ext>
            </a:extLst>
          </p:cNvPr>
          <p:cNvPicPr>
            <a:picLocks noChangeAspect="1"/>
          </p:cNvPicPr>
          <p:nvPr/>
        </p:nvPicPr>
        <p:blipFill>
          <a:blip r:embed="rId4"/>
          <a:srcRect l="8353" r="22859" b="-3"/>
          <a:stretch>
            <a:fillRect/>
          </a:stretch>
        </p:blipFill>
        <p:spPr>
          <a:xfrm>
            <a:off x="5165869" y="254000"/>
            <a:ext cx="3978131" cy="6603999"/>
          </a:xfrm>
          <a:prstGeom prst="rect">
            <a:avLst/>
          </a:prstGeom>
        </p:spPr>
      </p:pic>
      <p:sp>
        <p:nvSpPr>
          <p:cNvPr id="14" name="Rectangle 13">
            <a:extLst>
              <a:ext uri="{FF2B5EF4-FFF2-40B4-BE49-F238E27FC236}">
                <a16:creationId xmlns:a16="http://schemas.microsoft.com/office/drawing/2014/main" id="{068E5CCC-C8B4-1C26-7EEC-22D3D6E680D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a:off x="5715136" y="3163730"/>
            <a:ext cx="123362" cy="5124875"/>
          </a:xfrm>
          <a:prstGeom prst="rect">
            <a:avLst/>
          </a:prstGeom>
          <a:gradFill>
            <a:gsLst>
              <a:gs pos="0">
                <a:schemeClr val="accent2"/>
              </a:gs>
              <a:gs pos="100000">
                <a:schemeClr val="accent5"/>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5AA4F2E6-C9E1-359F-FAB8-8E34321074B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a:off x="7688967" y="5137561"/>
            <a:ext cx="123362" cy="1177214"/>
          </a:xfrm>
          <a:prstGeom prst="rect">
            <a:avLst/>
          </a:prstGeom>
          <a:gradFill>
            <a:gsLst>
              <a:gs pos="19000">
                <a:schemeClr val="accent5">
                  <a:alpha val="0"/>
                </a:schemeClr>
              </a:gs>
              <a:gs pos="100000">
                <a:schemeClr val="accent5">
                  <a:lumMod val="60000"/>
                  <a:lumOff val="40000"/>
                </a:schemeClr>
              </a:gs>
            </a:gsLst>
            <a:lin ang="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62986138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9EC46298-3485-8E1C-BBE2-E410CD0C9317}"/>
            </a:ext>
          </a:extLst>
        </p:cNvPr>
        <p:cNvGrpSpPr/>
        <p:nvPr/>
      </p:nvGrpSpPr>
      <p:grpSpPr>
        <a:xfrm>
          <a:off x="0" y="0"/>
          <a:ext cx="0" cy="0"/>
          <a:chOff x="0" y="0"/>
          <a:chExt cx="0" cy="0"/>
        </a:xfrm>
      </p:grpSpPr>
      <p:sp useBgFill="1">
        <p:nvSpPr>
          <p:cNvPr id="22" name="Rectangle 21">
            <a:extLst>
              <a:ext uri="{FF2B5EF4-FFF2-40B4-BE49-F238E27FC236}">
                <a16:creationId xmlns:a16="http://schemas.microsoft.com/office/drawing/2014/main" id="{AFB5468C-305B-445A-A53B-93DB583365A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144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805D17D9-EA96-39EF-6199-41B3FD08CF48}"/>
              </a:ext>
            </a:extLst>
          </p:cNvPr>
          <p:cNvSpPr>
            <a:spLocks noGrp="1"/>
          </p:cNvSpPr>
          <p:nvPr>
            <p:ph type="title"/>
          </p:nvPr>
        </p:nvSpPr>
        <p:spPr>
          <a:xfrm>
            <a:off x="399861" y="436360"/>
            <a:ext cx="2553277" cy="2244634"/>
          </a:xfrm>
        </p:spPr>
        <p:txBody>
          <a:bodyPr>
            <a:normAutofit/>
          </a:bodyPr>
          <a:lstStyle/>
          <a:p>
            <a:r>
              <a:rPr lang="en-US" sz="2400"/>
              <a:t>Machine Learning Pipeline</a:t>
            </a:r>
            <a:endParaRPr lang="en-US" sz="2400" b="1" i="1">
              <a:latin typeface="Calibri" pitchFamily="34" charset="0"/>
              <a:cs typeface="Calibri" pitchFamily="34" charset="-120"/>
            </a:endParaRPr>
          </a:p>
        </p:txBody>
      </p:sp>
      <p:pic>
        <p:nvPicPr>
          <p:cNvPr id="4" name="Picture 3">
            <a:extLst>
              <a:ext uri="{FF2B5EF4-FFF2-40B4-BE49-F238E27FC236}">
                <a16:creationId xmlns:a16="http://schemas.microsoft.com/office/drawing/2014/main" id="{C2FB34E6-735B-9274-3804-4BC8F100B8DA}"/>
              </a:ext>
            </a:extLst>
          </p:cNvPr>
          <p:cNvPicPr>
            <a:picLocks noChangeAspect="1"/>
          </p:cNvPicPr>
          <p:nvPr/>
        </p:nvPicPr>
        <p:blipFill>
          <a:blip r:embed="rId3"/>
          <a:srcRect r="19554" b="-4"/>
          <a:stretch>
            <a:fillRect/>
          </a:stretch>
        </p:blipFill>
        <p:spPr>
          <a:xfrm>
            <a:off x="20" y="3184849"/>
            <a:ext cx="3238097" cy="3673153"/>
          </a:xfrm>
          <a:prstGeom prst="rect">
            <a:avLst/>
          </a:prstGeom>
        </p:spPr>
      </p:pic>
      <p:sp>
        <p:nvSpPr>
          <p:cNvPr id="23" name="Rectangle 22">
            <a:extLst>
              <a:ext uri="{FF2B5EF4-FFF2-40B4-BE49-F238E27FC236}">
                <a16:creationId xmlns:a16="http://schemas.microsoft.com/office/drawing/2014/main" id="{A2CDF4EC-7B47-436E-927B-57540425857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3152841"/>
            <a:ext cx="3238117" cy="64008"/>
          </a:xfrm>
          <a:prstGeom prst="rect">
            <a:avLst/>
          </a:prstGeom>
          <a:solidFill>
            <a:schemeClr val="tx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Rectangle 23">
            <a:extLst>
              <a:ext uri="{FF2B5EF4-FFF2-40B4-BE49-F238E27FC236}">
                <a16:creationId xmlns:a16="http://schemas.microsoft.com/office/drawing/2014/main" id="{EF273D9E-5BEA-459A-918F-AF5ACA25847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166880" y="3404998"/>
            <a:ext cx="6858002" cy="48006"/>
          </a:xfrm>
          <a:prstGeom prst="rect">
            <a:avLst/>
          </a:prstGeom>
          <a:solidFill>
            <a:schemeClr val="tx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ontent Placeholder 2">
            <a:extLst>
              <a:ext uri="{FF2B5EF4-FFF2-40B4-BE49-F238E27FC236}">
                <a16:creationId xmlns:a16="http://schemas.microsoft.com/office/drawing/2014/main" id="{FBC8D7AB-F566-626A-A0BF-35906D89C700}"/>
              </a:ext>
            </a:extLst>
          </p:cNvPr>
          <p:cNvSpPr>
            <a:spLocks noGrp="1"/>
          </p:cNvSpPr>
          <p:nvPr>
            <p:ph idx="1"/>
          </p:nvPr>
        </p:nvSpPr>
        <p:spPr>
          <a:xfrm>
            <a:off x="3281458" y="397565"/>
            <a:ext cx="3233072" cy="5715383"/>
          </a:xfrm>
        </p:spPr>
        <p:txBody>
          <a:bodyPr anchor="ctr">
            <a:normAutofit/>
          </a:bodyPr>
          <a:lstStyle/>
          <a:p>
            <a:pPr lvl="1">
              <a:buFont typeface="Wingdings" pitchFamily="2" charset="2"/>
              <a:buChar char="Ø"/>
            </a:pPr>
            <a:r>
              <a:rPr lang="en-US" sz="1700" dirty="0"/>
              <a:t>Train/test split Imputation</a:t>
            </a:r>
          </a:p>
          <a:p>
            <a:pPr lvl="1">
              <a:buFont typeface="Wingdings" pitchFamily="2" charset="2"/>
              <a:buChar char="Ø"/>
            </a:pPr>
            <a:r>
              <a:rPr lang="en-US" sz="1700" dirty="0"/>
              <a:t>One-hot encoding</a:t>
            </a:r>
          </a:p>
          <a:p>
            <a:pPr lvl="1">
              <a:buFont typeface="Wingdings" pitchFamily="2" charset="2"/>
              <a:buChar char="Ø"/>
            </a:pPr>
            <a:r>
              <a:rPr lang="en-US" sz="1700" dirty="0"/>
              <a:t>Scaling</a:t>
            </a:r>
          </a:p>
          <a:p>
            <a:pPr lvl="1">
              <a:buFont typeface="Wingdings" pitchFamily="2" charset="2"/>
              <a:buChar char="Ø"/>
            </a:pPr>
            <a:r>
              <a:rPr lang="en-US" sz="1700" dirty="0"/>
              <a:t>Logistic Regression</a:t>
            </a:r>
          </a:p>
          <a:p>
            <a:pPr lvl="1">
              <a:buFont typeface="Wingdings" pitchFamily="2" charset="2"/>
              <a:buChar char="Ø"/>
            </a:pPr>
            <a:r>
              <a:rPr lang="en-US" sz="1700" dirty="0"/>
              <a:t>Random Forest</a:t>
            </a:r>
          </a:p>
          <a:p>
            <a:pPr marL="457200" lvl="1" indent="0">
              <a:buNone/>
            </a:pPr>
            <a:endParaRPr lang="en-US" sz="1700" dirty="0"/>
          </a:p>
          <a:p>
            <a:pPr marL="457200" lvl="1" indent="0">
              <a:buNone/>
            </a:pPr>
            <a:endParaRPr lang="en-US" sz="1700" dirty="0"/>
          </a:p>
          <a:p>
            <a:pPr marL="457200" lvl="1" indent="0">
              <a:buNone/>
            </a:pPr>
            <a:endParaRPr lang="en-US" sz="1700" b="1" i="1" dirty="0">
              <a:latin typeface="Calibri" pitchFamily="34" charset="0"/>
              <a:ea typeface="+mj-ea"/>
              <a:cs typeface="Calibri" pitchFamily="34" charset="-120"/>
            </a:endParaRPr>
          </a:p>
        </p:txBody>
      </p:sp>
      <p:pic>
        <p:nvPicPr>
          <p:cNvPr id="5" name="Picture 4" descr="A stethoscope in white background">
            <a:extLst>
              <a:ext uri="{FF2B5EF4-FFF2-40B4-BE49-F238E27FC236}">
                <a16:creationId xmlns:a16="http://schemas.microsoft.com/office/drawing/2014/main" id="{DA0D1A30-37FC-2ABE-8C95-D46AB258A39C}"/>
              </a:ext>
            </a:extLst>
          </p:cNvPr>
          <p:cNvPicPr>
            <a:picLocks noChangeAspect="1"/>
          </p:cNvPicPr>
          <p:nvPr/>
        </p:nvPicPr>
        <p:blipFill>
          <a:blip r:embed="rId4"/>
          <a:srcRect l="54101" r="21195" b="-2"/>
          <a:stretch>
            <a:fillRect/>
          </a:stretch>
        </p:blipFill>
        <p:spPr>
          <a:xfrm>
            <a:off x="6605878" y="-6"/>
            <a:ext cx="2538122" cy="6858002"/>
          </a:xfrm>
          <a:prstGeom prst="rect">
            <a:avLst/>
          </a:prstGeom>
        </p:spPr>
      </p:pic>
      <p:sp>
        <p:nvSpPr>
          <p:cNvPr id="25" name="Rectangle 24">
            <a:extLst>
              <a:ext uri="{FF2B5EF4-FFF2-40B4-BE49-F238E27FC236}">
                <a16:creationId xmlns:a16="http://schemas.microsoft.com/office/drawing/2014/main" id="{5DFA5EF5-56B1-49EE-B0BB-69B6399FAD9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3157540" y="3404996"/>
            <a:ext cx="6858002" cy="48006"/>
          </a:xfrm>
          <a:prstGeom prst="rect">
            <a:avLst/>
          </a:prstGeom>
          <a:solidFill>
            <a:schemeClr val="tx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62867683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A5A9F308-2AA2-3F93-798A-D0F4064E374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855895E-5165-F8B1-7759-A0AEF9EF0BD0}"/>
              </a:ext>
            </a:extLst>
          </p:cNvPr>
          <p:cNvSpPr>
            <a:spLocks noGrp="1"/>
          </p:cNvSpPr>
          <p:nvPr>
            <p:ph type="title"/>
          </p:nvPr>
        </p:nvSpPr>
        <p:spPr>
          <a:xfrm>
            <a:off x="657519" y="741391"/>
            <a:ext cx="2591866" cy="1616203"/>
          </a:xfrm>
        </p:spPr>
        <p:txBody>
          <a:bodyPr anchor="b">
            <a:normAutofit/>
          </a:bodyPr>
          <a:lstStyle/>
          <a:p>
            <a:pPr>
              <a:lnSpc>
                <a:spcPct val="90000"/>
              </a:lnSpc>
            </a:pPr>
            <a:r>
              <a:rPr lang="en-US" sz="2400" dirty="0"/>
              <a:t>Evaluation-Baseline model: Logistic Regression</a:t>
            </a:r>
            <a:br>
              <a:rPr lang="en-US" sz="2400" dirty="0"/>
            </a:br>
            <a:endParaRPr lang="en-US" sz="2400" b="1" i="1" dirty="0">
              <a:latin typeface="Calibri" pitchFamily="34" charset="0"/>
              <a:cs typeface="Calibri" pitchFamily="34" charset="-120"/>
            </a:endParaRPr>
          </a:p>
        </p:txBody>
      </p:sp>
      <p:sp>
        <p:nvSpPr>
          <p:cNvPr id="3" name="Content Placeholder 2">
            <a:extLst>
              <a:ext uri="{FF2B5EF4-FFF2-40B4-BE49-F238E27FC236}">
                <a16:creationId xmlns:a16="http://schemas.microsoft.com/office/drawing/2014/main" id="{131A55D7-9EE6-ACAF-510F-A98F11700938}"/>
              </a:ext>
            </a:extLst>
          </p:cNvPr>
          <p:cNvSpPr>
            <a:spLocks noGrp="1"/>
          </p:cNvSpPr>
          <p:nvPr>
            <p:ph idx="1"/>
          </p:nvPr>
        </p:nvSpPr>
        <p:spPr>
          <a:xfrm>
            <a:off x="657519" y="2533476"/>
            <a:ext cx="2591866" cy="3447832"/>
          </a:xfrm>
        </p:spPr>
        <p:txBody>
          <a:bodyPr anchor="t">
            <a:normAutofit/>
          </a:bodyPr>
          <a:lstStyle/>
          <a:p>
            <a:pPr lvl="1">
              <a:buFont typeface="Wingdings" pitchFamily="2" charset="2"/>
              <a:buChar char="Ø"/>
            </a:pPr>
            <a:r>
              <a:rPr lang="en-US" sz="1600" dirty="0"/>
              <a:t>Accuracy</a:t>
            </a:r>
          </a:p>
          <a:p>
            <a:pPr lvl="1">
              <a:buFont typeface="Wingdings" pitchFamily="2" charset="2"/>
              <a:buChar char="Ø"/>
            </a:pPr>
            <a:r>
              <a:rPr lang="en-US" sz="1600" dirty="0"/>
              <a:t>Precision</a:t>
            </a:r>
          </a:p>
          <a:p>
            <a:pPr lvl="1">
              <a:buFont typeface="Wingdings" pitchFamily="2" charset="2"/>
              <a:buChar char="Ø"/>
            </a:pPr>
            <a:r>
              <a:rPr lang="en-US" sz="1600" dirty="0"/>
              <a:t>Recall</a:t>
            </a:r>
          </a:p>
          <a:p>
            <a:pPr lvl="1">
              <a:buFont typeface="Wingdings" pitchFamily="2" charset="2"/>
              <a:buChar char="Ø"/>
            </a:pPr>
            <a:r>
              <a:rPr lang="en-US" sz="1600" dirty="0"/>
              <a:t>F1-score</a:t>
            </a:r>
          </a:p>
          <a:p>
            <a:pPr lvl="1">
              <a:buFont typeface="Wingdings" pitchFamily="2" charset="2"/>
              <a:buChar char="Ø"/>
            </a:pPr>
            <a:r>
              <a:rPr lang="en-US" sz="1600" dirty="0"/>
              <a:t>Confusion matrix</a:t>
            </a:r>
          </a:p>
          <a:p>
            <a:pPr marL="457200" lvl="1" indent="0">
              <a:buNone/>
            </a:pPr>
            <a:endParaRPr lang="en-US" sz="1600" dirty="0"/>
          </a:p>
          <a:p>
            <a:pPr marL="457200" lvl="1" indent="0">
              <a:buNone/>
            </a:pPr>
            <a:endParaRPr lang="en-US" sz="1600" dirty="0"/>
          </a:p>
          <a:p>
            <a:pPr marL="457200" lvl="1" indent="0">
              <a:buNone/>
            </a:pPr>
            <a:endParaRPr lang="en-US" sz="1600" b="1" i="1" dirty="0">
              <a:latin typeface="Calibri" pitchFamily="34" charset="0"/>
              <a:ea typeface="+mj-ea"/>
              <a:cs typeface="Calibri" pitchFamily="34" charset="-120"/>
            </a:endParaRPr>
          </a:p>
        </p:txBody>
      </p:sp>
      <p:pic>
        <p:nvPicPr>
          <p:cNvPr id="4" name="Picture 3">
            <a:extLst>
              <a:ext uri="{FF2B5EF4-FFF2-40B4-BE49-F238E27FC236}">
                <a16:creationId xmlns:a16="http://schemas.microsoft.com/office/drawing/2014/main" id="{5AE76720-DFDE-E1C7-4AFE-5A9166D735BD}"/>
              </a:ext>
            </a:extLst>
          </p:cNvPr>
          <p:cNvPicPr>
            <a:picLocks noChangeAspect="1"/>
          </p:cNvPicPr>
          <p:nvPr/>
        </p:nvPicPr>
        <p:blipFill>
          <a:blip r:embed="rId3"/>
          <a:srcRect r="23850" b="1"/>
          <a:stretch>
            <a:fillRect/>
          </a:stretch>
        </p:blipFill>
        <p:spPr>
          <a:xfrm>
            <a:off x="3815044" y="10"/>
            <a:ext cx="5328955" cy="6857990"/>
          </a:xfrm>
          <a:prstGeom prst="rect">
            <a:avLst/>
          </a:prstGeom>
        </p:spPr>
      </p:pic>
      <p:grpSp>
        <p:nvGrpSpPr>
          <p:cNvPr id="22" name="Group 21">
            <a:extLst>
              <a:ext uri="{FF2B5EF4-FFF2-40B4-BE49-F238E27FC236}">
                <a16:creationId xmlns:a16="http://schemas.microsoft.com/office/drawing/2014/main" id="{A5AFD70F-20E3-55D2-E154-7D4FACFBB016}"/>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9051478" y="0"/>
            <a:ext cx="92522" cy="6858000"/>
            <a:chOff x="12068638" y="0"/>
            <a:chExt cx="123362" cy="6858000"/>
          </a:xfrm>
        </p:grpSpPr>
        <p:sp>
          <p:nvSpPr>
            <p:cNvPr id="23" name="Rectangle 22">
              <a:extLst>
                <a:ext uri="{FF2B5EF4-FFF2-40B4-BE49-F238E27FC236}">
                  <a16:creationId xmlns:a16="http://schemas.microsoft.com/office/drawing/2014/main" id="{2FBDB812-268E-7EC5-B48A-7522718164E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2068638" y="0"/>
              <a:ext cx="123362" cy="6858000"/>
            </a:xfrm>
            <a:prstGeom prst="rect">
              <a:avLst/>
            </a:prstGeom>
            <a:gradFill>
              <a:gsLst>
                <a:gs pos="0">
                  <a:schemeClr val="accent2"/>
                </a:gs>
                <a:gs pos="100000">
                  <a:schemeClr val="accent5"/>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Rectangle 23">
              <a:extLst>
                <a:ext uri="{FF2B5EF4-FFF2-40B4-BE49-F238E27FC236}">
                  <a16:creationId xmlns:a16="http://schemas.microsoft.com/office/drawing/2014/main" id="{EDA30E18-AA70-D998-AAFC-727CB0367F5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2068638" y="3527553"/>
              <a:ext cx="123362" cy="3330447"/>
            </a:xfrm>
            <a:prstGeom prst="rect">
              <a:avLst/>
            </a:prstGeom>
            <a:gradFill>
              <a:gsLst>
                <a:gs pos="19000">
                  <a:schemeClr val="accent5">
                    <a:lumMod val="60000"/>
                    <a:lumOff val="40000"/>
                    <a:alpha val="0"/>
                  </a:schemeClr>
                </a:gs>
                <a:gs pos="100000">
                  <a:schemeClr val="accent5">
                    <a:lumMod val="60000"/>
                    <a:lumOff val="40000"/>
                  </a:schemeClr>
                </a:gs>
              </a:gsLst>
              <a:lin ang="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Tree>
    <p:extLst>
      <p:ext uri="{BB962C8B-B14F-4D97-AF65-F5344CB8AC3E}">
        <p14:creationId xmlns:p14="http://schemas.microsoft.com/office/powerpoint/2010/main" val="160735585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7E5896B9-AC40-7480-8F5D-675C9F18267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D5D709E-7A76-9600-F3D4-4A42327C6D22}"/>
              </a:ext>
            </a:extLst>
          </p:cNvPr>
          <p:cNvSpPr>
            <a:spLocks noGrp="1"/>
          </p:cNvSpPr>
          <p:nvPr>
            <p:ph type="title"/>
          </p:nvPr>
        </p:nvSpPr>
        <p:spPr>
          <a:xfrm>
            <a:off x="657519" y="741391"/>
            <a:ext cx="2591866" cy="1616203"/>
          </a:xfrm>
        </p:spPr>
        <p:txBody>
          <a:bodyPr anchor="b">
            <a:normAutofit/>
          </a:bodyPr>
          <a:lstStyle/>
          <a:p>
            <a:pPr>
              <a:lnSpc>
                <a:spcPct val="90000"/>
              </a:lnSpc>
            </a:pPr>
            <a:r>
              <a:rPr lang="en-US" sz="2600" dirty="0"/>
              <a:t>Evaluation Tree-based model: Random Forest</a:t>
            </a:r>
            <a:br>
              <a:rPr lang="en-US" sz="2600" dirty="0"/>
            </a:br>
            <a:endParaRPr lang="en-US" sz="2600" b="1" i="1" dirty="0">
              <a:latin typeface="Calibri" pitchFamily="34" charset="0"/>
              <a:cs typeface="Calibri" pitchFamily="34" charset="-120"/>
            </a:endParaRPr>
          </a:p>
        </p:txBody>
      </p:sp>
      <p:sp>
        <p:nvSpPr>
          <p:cNvPr id="3" name="Content Placeholder 2">
            <a:extLst>
              <a:ext uri="{FF2B5EF4-FFF2-40B4-BE49-F238E27FC236}">
                <a16:creationId xmlns:a16="http://schemas.microsoft.com/office/drawing/2014/main" id="{F77E16DF-744C-28DD-930B-D75D6F55B51B}"/>
              </a:ext>
            </a:extLst>
          </p:cNvPr>
          <p:cNvSpPr>
            <a:spLocks noGrp="1"/>
          </p:cNvSpPr>
          <p:nvPr>
            <p:ph idx="1"/>
          </p:nvPr>
        </p:nvSpPr>
        <p:spPr>
          <a:xfrm>
            <a:off x="657519" y="2533476"/>
            <a:ext cx="2591866" cy="3447832"/>
          </a:xfrm>
        </p:spPr>
        <p:txBody>
          <a:bodyPr anchor="t">
            <a:normAutofit/>
          </a:bodyPr>
          <a:lstStyle/>
          <a:p>
            <a:pPr marL="457200" lvl="1" indent="0">
              <a:buNone/>
            </a:pPr>
            <a:r>
              <a:rPr lang="en-US" sz="1600" dirty="0"/>
              <a:t>Accuracy</a:t>
            </a:r>
          </a:p>
          <a:p>
            <a:pPr marL="457200" lvl="1" indent="0">
              <a:buNone/>
            </a:pPr>
            <a:r>
              <a:rPr lang="en-US" sz="1600" dirty="0"/>
              <a:t>Precision</a:t>
            </a:r>
          </a:p>
          <a:p>
            <a:pPr marL="457200" lvl="1" indent="0">
              <a:buNone/>
            </a:pPr>
            <a:r>
              <a:rPr lang="en-US" sz="1600" dirty="0"/>
              <a:t>Recall</a:t>
            </a:r>
          </a:p>
          <a:p>
            <a:pPr marL="457200" lvl="1" indent="0">
              <a:buNone/>
            </a:pPr>
            <a:r>
              <a:rPr lang="en-US" sz="1600" dirty="0"/>
              <a:t>F1-score</a:t>
            </a:r>
          </a:p>
          <a:p>
            <a:pPr marL="457200" lvl="1" indent="0">
              <a:buNone/>
            </a:pPr>
            <a:r>
              <a:rPr lang="en-US" sz="1600" dirty="0"/>
              <a:t>Confusion matrix</a:t>
            </a:r>
          </a:p>
          <a:p>
            <a:pPr marL="457200" lvl="1" indent="0">
              <a:buNone/>
            </a:pPr>
            <a:endParaRPr lang="en-US" sz="1600" dirty="0"/>
          </a:p>
          <a:p>
            <a:pPr marL="457200" lvl="1" indent="0">
              <a:buNone/>
            </a:pPr>
            <a:endParaRPr lang="en-US" sz="1600" dirty="0"/>
          </a:p>
          <a:p>
            <a:pPr marL="457200" lvl="1" indent="0">
              <a:buNone/>
            </a:pPr>
            <a:endParaRPr lang="en-US" sz="1600" b="1" i="1" dirty="0">
              <a:latin typeface="Calibri" pitchFamily="34" charset="0"/>
              <a:ea typeface="+mj-ea"/>
              <a:cs typeface="Calibri" pitchFamily="34" charset="-120"/>
            </a:endParaRPr>
          </a:p>
        </p:txBody>
      </p:sp>
      <p:pic>
        <p:nvPicPr>
          <p:cNvPr id="4" name="Picture 3">
            <a:extLst>
              <a:ext uri="{FF2B5EF4-FFF2-40B4-BE49-F238E27FC236}">
                <a16:creationId xmlns:a16="http://schemas.microsoft.com/office/drawing/2014/main" id="{98EE7BC7-7580-8ACF-E2FE-08A06B4B5698}"/>
              </a:ext>
            </a:extLst>
          </p:cNvPr>
          <p:cNvPicPr>
            <a:picLocks noChangeAspect="1"/>
          </p:cNvPicPr>
          <p:nvPr/>
        </p:nvPicPr>
        <p:blipFill>
          <a:blip r:embed="rId3"/>
          <a:srcRect r="26570" b="1"/>
          <a:stretch>
            <a:fillRect/>
          </a:stretch>
        </p:blipFill>
        <p:spPr>
          <a:xfrm>
            <a:off x="3815044" y="10"/>
            <a:ext cx="5328955" cy="6857990"/>
          </a:xfrm>
          <a:prstGeom prst="rect">
            <a:avLst/>
          </a:prstGeom>
        </p:spPr>
      </p:pic>
      <p:grpSp>
        <p:nvGrpSpPr>
          <p:cNvPr id="12" name="Group 11">
            <a:extLst>
              <a:ext uri="{FF2B5EF4-FFF2-40B4-BE49-F238E27FC236}">
                <a16:creationId xmlns:a16="http://schemas.microsoft.com/office/drawing/2014/main" id="{A5AFD70F-20E3-55D2-E154-7D4FACFBB016}"/>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9051478" y="0"/>
            <a:ext cx="92522" cy="6858000"/>
            <a:chOff x="12068638" y="0"/>
            <a:chExt cx="123362" cy="6858000"/>
          </a:xfrm>
        </p:grpSpPr>
        <p:sp>
          <p:nvSpPr>
            <p:cNvPr id="10" name="Rectangle 9">
              <a:extLst>
                <a:ext uri="{FF2B5EF4-FFF2-40B4-BE49-F238E27FC236}">
                  <a16:creationId xmlns:a16="http://schemas.microsoft.com/office/drawing/2014/main" id="{2FBDB812-268E-7EC5-B48A-7522718164E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2068638" y="0"/>
              <a:ext cx="123362" cy="6858000"/>
            </a:xfrm>
            <a:prstGeom prst="rect">
              <a:avLst/>
            </a:prstGeom>
            <a:gradFill>
              <a:gsLst>
                <a:gs pos="0">
                  <a:schemeClr val="accent2"/>
                </a:gs>
                <a:gs pos="100000">
                  <a:schemeClr val="accent5"/>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EDA30E18-AA70-D998-AAFC-727CB0367F5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2068638" y="3527553"/>
              <a:ext cx="123362" cy="3330447"/>
            </a:xfrm>
            <a:prstGeom prst="rect">
              <a:avLst/>
            </a:prstGeom>
            <a:gradFill>
              <a:gsLst>
                <a:gs pos="19000">
                  <a:schemeClr val="accent5">
                    <a:lumMod val="60000"/>
                    <a:lumOff val="40000"/>
                    <a:alpha val="0"/>
                  </a:schemeClr>
                </a:gs>
                <a:gs pos="100000">
                  <a:schemeClr val="accent5">
                    <a:lumMod val="60000"/>
                    <a:lumOff val="40000"/>
                  </a:schemeClr>
                </a:gs>
              </a:gsLst>
              <a:lin ang="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Tree>
    <p:extLst>
      <p:ext uri="{BB962C8B-B14F-4D97-AF65-F5344CB8AC3E}">
        <p14:creationId xmlns:p14="http://schemas.microsoft.com/office/powerpoint/2010/main" val="214611140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F3CF748A-4F9C-9AE2-217B-45ABC526777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7699113-FF05-1EF3-51B2-D8E3F3BF000B}"/>
              </a:ext>
            </a:extLst>
          </p:cNvPr>
          <p:cNvSpPr>
            <a:spLocks noGrp="1"/>
          </p:cNvSpPr>
          <p:nvPr>
            <p:ph type="title"/>
          </p:nvPr>
        </p:nvSpPr>
        <p:spPr>
          <a:xfrm>
            <a:off x="657519" y="741391"/>
            <a:ext cx="2591866" cy="1616203"/>
          </a:xfrm>
        </p:spPr>
        <p:txBody>
          <a:bodyPr anchor="b">
            <a:normAutofit/>
          </a:bodyPr>
          <a:lstStyle/>
          <a:p>
            <a:r>
              <a:rPr lang="en-US" sz="2600" dirty="0"/>
              <a:t>Confusion matrix</a:t>
            </a:r>
            <a:br>
              <a:rPr lang="en-US" sz="2600" dirty="0"/>
            </a:br>
            <a:br>
              <a:rPr lang="en-US" sz="2600" dirty="0"/>
            </a:br>
            <a:endParaRPr lang="en-US" sz="2600" b="1" i="1" dirty="0">
              <a:latin typeface="Calibri" pitchFamily="34" charset="0"/>
              <a:cs typeface="Calibri" pitchFamily="34" charset="-120"/>
            </a:endParaRPr>
          </a:p>
        </p:txBody>
      </p:sp>
      <p:sp>
        <p:nvSpPr>
          <p:cNvPr id="3" name="Content Placeholder 2">
            <a:extLst>
              <a:ext uri="{FF2B5EF4-FFF2-40B4-BE49-F238E27FC236}">
                <a16:creationId xmlns:a16="http://schemas.microsoft.com/office/drawing/2014/main" id="{3F98AF8A-03EB-54D6-EF8F-5057433D1F4E}"/>
              </a:ext>
            </a:extLst>
          </p:cNvPr>
          <p:cNvSpPr>
            <a:spLocks noGrp="1"/>
          </p:cNvSpPr>
          <p:nvPr>
            <p:ph idx="1"/>
          </p:nvPr>
        </p:nvSpPr>
        <p:spPr>
          <a:xfrm>
            <a:off x="657519" y="2533476"/>
            <a:ext cx="2591866" cy="3447832"/>
          </a:xfrm>
        </p:spPr>
        <p:txBody>
          <a:bodyPr anchor="t">
            <a:normAutofit/>
          </a:bodyPr>
          <a:lstStyle/>
          <a:p>
            <a:pPr>
              <a:buFont typeface="Wingdings" pitchFamily="2" charset="2"/>
              <a:buChar char="Ø"/>
            </a:pPr>
            <a:r>
              <a:rPr lang="en-US" sz="1700" dirty="0"/>
              <a:t>A confusion matrix helps show:</a:t>
            </a:r>
          </a:p>
          <a:p>
            <a:pPr>
              <a:buFont typeface="Wingdings" pitchFamily="2" charset="2"/>
              <a:buChar char="Ø"/>
            </a:pPr>
            <a:r>
              <a:rPr lang="en-US" sz="1700" dirty="0"/>
              <a:t>which classes are predicted correctly,</a:t>
            </a:r>
          </a:p>
          <a:p>
            <a:pPr>
              <a:buFont typeface="Wingdings" pitchFamily="2" charset="2"/>
              <a:buChar char="Ø"/>
            </a:pPr>
            <a:r>
              <a:rPr lang="en-US" sz="1700" dirty="0"/>
              <a:t>which categories are mixed up,</a:t>
            </a:r>
          </a:p>
          <a:p>
            <a:pPr>
              <a:buFont typeface="Wingdings" pitchFamily="2" charset="2"/>
              <a:buChar char="Ø"/>
            </a:pPr>
            <a:r>
              <a:rPr lang="en-US" sz="1700" dirty="0"/>
              <a:t>whether the model struggles more with medium vs long stays.</a:t>
            </a:r>
          </a:p>
          <a:p>
            <a:pPr marL="457200" lvl="1" indent="0">
              <a:buNone/>
            </a:pPr>
            <a:endParaRPr lang="en-US" sz="1700" dirty="0"/>
          </a:p>
          <a:p>
            <a:pPr marL="457200" lvl="1" indent="0">
              <a:buNone/>
            </a:pPr>
            <a:endParaRPr lang="en-US" sz="1700" b="1" i="1" dirty="0">
              <a:latin typeface="Calibri" pitchFamily="34" charset="0"/>
              <a:ea typeface="+mj-ea"/>
              <a:cs typeface="Calibri" pitchFamily="34" charset="-120"/>
            </a:endParaRPr>
          </a:p>
        </p:txBody>
      </p:sp>
      <p:pic>
        <p:nvPicPr>
          <p:cNvPr id="5" name="Picture 4">
            <a:extLst>
              <a:ext uri="{FF2B5EF4-FFF2-40B4-BE49-F238E27FC236}">
                <a16:creationId xmlns:a16="http://schemas.microsoft.com/office/drawing/2014/main" id="{3FA24F1B-6C47-B3D7-3352-E1EEDF81884F}"/>
              </a:ext>
            </a:extLst>
          </p:cNvPr>
          <p:cNvPicPr>
            <a:picLocks noChangeAspect="1"/>
          </p:cNvPicPr>
          <p:nvPr/>
        </p:nvPicPr>
        <p:blipFill>
          <a:blip r:embed="rId3"/>
          <a:srcRect r="31036" b="-1"/>
          <a:stretch>
            <a:fillRect/>
          </a:stretch>
        </p:blipFill>
        <p:spPr>
          <a:xfrm>
            <a:off x="3815044" y="10"/>
            <a:ext cx="5328955" cy="6857990"/>
          </a:xfrm>
          <a:prstGeom prst="rect">
            <a:avLst/>
          </a:prstGeom>
        </p:spPr>
      </p:pic>
      <p:grpSp>
        <p:nvGrpSpPr>
          <p:cNvPr id="10" name="Group 9">
            <a:extLst>
              <a:ext uri="{FF2B5EF4-FFF2-40B4-BE49-F238E27FC236}">
                <a16:creationId xmlns:a16="http://schemas.microsoft.com/office/drawing/2014/main" id="{A5AFD70F-20E3-55D2-E154-7D4FACFBB016}"/>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9051478" y="0"/>
            <a:ext cx="92522" cy="6858000"/>
            <a:chOff x="12068638" y="0"/>
            <a:chExt cx="123362" cy="6858000"/>
          </a:xfrm>
        </p:grpSpPr>
        <p:sp>
          <p:nvSpPr>
            <p:cNvPr id="11" name="Rectangle 10">
              <a:extLst>
                <a:ext uri="{FF2B5EF4-FFF2-40B4-BE49-F238E27FC236}">
                  <a16:creationId xmlns:a16="http://schemas.microsoft.com/office/drawing/2014/main" id="{2FBDB812-268E-7EC5-B48A-7522718164E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2068638" y="0"/>
              <a:ext cx="123362" cy="6858000"/>
            </a:xfrm>
            <a:prstGeom prst="rect">
              <a:avLst/>
            </a:prstGeom>
            <a:gradFill>
              <a:gsLst>
                <a:gs pos="0">
                  <a:schemeClr val="accent2"/>
                </a:gs>
                <a:gs pos="100000">
                  <a:schemeClr val="accent5"/>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EDA30E18-AA70-D998-AAFC-727CB0367F5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2068638" y="3527553"/>
              <a:ext cx="123362" cy="3330447"/>
            </a:xfrm>
            <a:prstGeom prst="rect">
              <a:avLst/>
            </a:prstGeom>
            <a:gradFill>
              <a:gsLst>
                <a:gs pos="19000">
                  <a:schemeClr val="accent5">
                    <a:lumMod val="60000"/>
                    <a:lumOff val="40000"/>
                    <a:alpha val="0"/>
                  </a:schemeClr>
                </a:gs>
                <a:gs pos="100000">
                  <a:schemeClr val="accent5">
                    <a:lumMod val="60000"/>
                    <a:lumOff val="40000"/>
                  </a:schemeClr>
                </a:gs>
              </a:gsLst>
              <a:lin ang="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Tree>
    <p:extLst>
      <p:ext uri="{BB962C8B-B14F-4D97-AF65-F5344CB8AC3E}">
        <p14:creationId xmlns:p14="http://schemas.microsoft.com/office/powerpoint/2010/main" val="384879532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8FA6E510-D399-F34F-65C5-59DC5C394A6A}"/>
            </a:ext>
          </a:extLst>
        </p:cNvPr>
        <p:cNvGrpSpPr/>
        <p:nvPr/>
      </p:nvGrpSpPr>
      <p:grpSpPr>
        <a:xfrm>
          <a:off x="0" y="0"/>
          <a:ext cx="0" cy="0"/>
          <a:chOff x="0" y="0"/>
          <a:chExt cx="0" cy="0"/>
        </a:xfrm>
      </p:grpSpPr>
      <p:sp useBgFill="1">
        <p:nvSpPr>
          <p:cNvPr id="11" name="Rectangle 10">
            <a:extLst>
              <a:ext uri="{FF2B5EF4-FFF2-40B4-BE49-F238E27FC236}">
                <a16:creationId xmlns:a16="http://schemas.microsoft.com/office/drawing/2014/main" id="{CEF6118E-44FB-4509-B4D9-129052E4C6E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141713"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551F74C7-6E37-CDAF-A13D-4E23C6A70DF6}"/>
              </a:ext>
            </a:extLst>
          </p:cNvPr>
          <p:cNvSpPr>
            <a:spLocks noGrp="1"/>
          </p:cNvSpPr>
          <p:nvPr>
            <p:ph type="title"/>
          </p:nvPr>
        </p:nvSpPr>
        <p:spPr>
          <a:xfrm>
            <a:off x="626366" y="525195"/>
            <a:ext cx="2989616" cy="2806506"/>
          </a:xfrm>
        </p:spPr>
        <p:txBody>
          <a:bodyPr anchor="b">
            <a:normAutofit/>
          </a:bodyPr>
          <a:lstStyle/>
          <a:p>
            <a:r>
              <a:rPr lang="en-US" sz="3500" dirty="0"/>
              <a:t>Results and Interpretation</a:t>
            </a:r>
            <a:endParaRPr lang="en-US" sz="3500" b="1" i="1" dirty="0">
              <a:latin typeface="Calibri" pitchFamily="34" charset="0"/>
              <a:cs typeface="Calibri" pitchFamily="34" charset="-120"/>
            </a:endParaRPr>
          </a:p>
        </p:txBody>
      </p:sp>
      <p:pic>
        <p:nvPicPr>
          <p:cNvPr id="6" name="Picture 5">
            <a:extLst>
              <a:ext uri="{FF2B5EF4-FFF2-40B4-BE49-F238E27FC236}">
                <a16:creationId xmlns:a16="http://schemas.microsoft.com/office/drawing/2014/main" id="{C250E0EB-607D-3FAD-76AA-3165D929862A}"/>
              </a:ext>
            </a:extLst>
          </p:cNvPr>
          <p:cNvPicPr>
            <a:picLocks noChangeAspect="1"/>
          </p:cNvPicPr>
          <p:nvPr/>
        </p:nvPicPr>
        <p:blipFill>
          <a:blip r:embed="rId3"/>
          <a:srcRect r="8532" b="3"/>
          <a:stretch>
            <a:fillRect/>
          </a:stretch>
        </p:blipFill>
        <p:spPr>
          <a:xfrm>
            <a:off x="3889915" y="163646"/>
            <a:ext cx="5105027" cy="2623097"/>
          </a:xfrm>
          <a:prstGeom prst="rect">
            <a:avLst/>
          </a:prstGeom>
        </p:spPr>
      </p:pic>
      <p:sp>
        <p:nvSpPr>
          <p:cNvPr id="3" name="Content Placeholder 2">
            <a:extLst>
              <a:ext uri="{FF2B5EF4-FFF2-40B4-BE49-F238E27FC236}">
                <a16:creationId xmlns:a16="http://schemas.microsoft.com/office/drawing/2014/main" id="{98374E49-8E6F-960A-BD1A-4C1FB1F4F362}"/>
              </a:ext>
            </a:extLst>
          </p:cNvPr>
          <p:cNvSpPr>
            <a:spLocks noGrp="1"/>
          </p:cNvSpPr>
          <p:nvPr>
            <p:ph idx="1"/>
          </p:nvPr>
        </p:nvSpPr>
        <p:spPr>
          <a:xfrm>
            <a:off x="-1" y="3526300"/>
            <a:ext cx="3889915" cy="2588458"/>
          </a:xfrm>
        </p:spPr>
        <p:txBody>
          <a:bodyPr>
            <a:normAutofit/>
          </a:bodyPr>
          <a:lstStyle/>
          <a:p>
            <a:pPr lvl="1">
              <a:lnSpc>
                <a:spcPct val="90000"/>
              </a:lnSpc>
              <a:buFont typeface="Wingdings" pitchFamily="2" charset="2"/>
              <a:buChar char="Ø"/>
            </a:pPr>
            <a:r>
              <a:rPr lang="en-US" sz="1400" dirty="0"/>
              <a:t>Compare models</a:t>
            </a:r>
          </a:p>
          <a:p>
            <a:pPr lvl="1">
              <a:lnSpc>
                <a:spcPct val="90000"/>
              </a:lnSpc>
              <a:buFont typeface="Wingdings" pitchFamily="2" charset="2"/>
              <a:buChar char="Ø"/>
            </a:pPr>
            <a:r>
              <a:rPr lang="en-US" sz="1400" dirty="0"/>
              <a:t>Choose best-performing model</a:t>
            </a:r>
          </a:p>
          <a:p>
            <a:pPr lvl="1">
              <a:lnSpc>
                <a:spcPct val="90000"/>
              </a:lnSpc>
              <a:buFont typeface="Wingdings" pitchFamily="2" charset="2"/>
              <a:buChar char="Ø"/>
            </a:pPr>
            <a:r>
              <a:rPr lang="en-US" sz="1400" dirty="0"/>
              <a:t>Discuss useful predictors</a:t>
            </a:r>
          </a:p>
          <a:p>
            <a:pPr lvl="1">
              <a:lnSpc>
                <a:spcPct val="90000"/>
              </a:lnSpc>
              <a:buFont typeface="Wingdings" pitchFamily="2" charset="2"/>
              <a:buChar char="Ø"/>
            </a:pPr>
            <a:r>
              <a:rPr lang="en-US" sz="1400" dirty="0"/>
              <a:t>Structured EHR data can support prediction</a:t>
            </a:r>
          </a:p>
          <a:p>
            <a:pPr marL="457200" lvl="1" indent="0">
              <a:lnSpc>
                <a:spcPct val="90000"/>
              </a:lnSpc>
              <a:buNone/>
            </a:pPr>
            <a:endParaRPr lang="en-US" sz="1400" dirty="0"/>
          </a:p>
          <a:p>
            <a:pPr marL="457200" lvl="1" indent="0">
              <a:lnSpc>
                <a:spcPct val="90000"/>
              </a:lnSpc>
              <a:buNone/>
            </a:pPr>
            <a:endParaRPr lang="en-US" sz="1400" b="1" i="1" dirty="0">
              <a:latin typeface="Calibri" pitchFamily="34" charset="0"/>
              <a:ea typeface="+mj-ea"/>
              <a:cs typeface="Calibri" pitchFamily="34" charset="-120"/>
            </a:endParaRPr>
          </a:p>
        </p:txBody>
      </p:sp>
      <p:pic>
        <p:nvPicPr>
          <p:cNvPr id="4" name="Picture 3">
            <a:extLst>
              <a:ext uri="{FF2B5EF4-FFF2-40B4-BE49-F238E27FC236}">
                <a16:creationId xmlns:a16="http://schemas.microsoft.com/office/drawing/2014/main" id="{6BE2CB9A-624E-C01C-5003-CF4E7E70F8B4}"/>
              </a:ext>
            </a:extLst>
          </p:cNvPr>
          <p:cNvPicPr>
            <a:picLocks noChangeAspect="1"/>
          </p:cNvPicPr>
          <p:nvPr/>
        </p:nvPicPr>
        <p:blipFill>
          <a:blip r:embed="rId4"/>
          <a:srcRect r="13585" b="-3"/>
          <a:stretch>
            <a:fillRect/>
          </a:stretch>
        </p:blipFill>
        <p:spPr>
          <a:xfrm>
            <a:off x="3889915" y="2956875"/>
            <a:ext cx="5105027" cy="3352653"/>
          </a:xfrm>
          <a:prstGeom prst="rect">
            <a:avLst/>
          </a:prstGeom>
        </p:spPr>
      </p:pic>
    </p:spTree>
    <p:extLst>
      <p:ext uri="{BB962C8B-B14F-4D97-AF65-F5344CB8AC3E}">
        <p14:creationId xmlns:p14="http://schemas.microsoft.com/office/powerpoint/2010/main" val="374968641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8BEE0A6-AB61-9404-829D-F2452041D184}"/>
            </a:ext>
          </a:extLst>
        </p:cNvPr>
        <p:cNvGrpSpPr/>
        <p:nvPr/>
      </p:nvGrpSpPr>
      <p:grpSpPr>
        <a:xfrm>
          <a:off x="0" y="0"/>
          <a:ext cx="0" cy="0"/>
          <a:chOff x="0" y="0"/>
          <a:chExt cx="0" cy="0"/>
        </a:xfrm>
      </p:grpSpPr>
      <p:pic>
        <p:nvPicPr>
          <p:cNvPr id="5" name="Picture 4" descr="A stethoscope in white background">
            <a:extLst>
              <a:ext uri="{FF2B5EF4-FFF2-40B4-BE49-F238E27FC236}">
                <a16:creationId xmlns:a16="http://schemas.microsoft.com/office/drawing/2014/main" id="{B67C5693-961E-E091-C948-6D0F1A6005F2}"/>
              </a:ext>
            </a:extLst>
          </p:cNvPr>
          <p:cNvPicPr>
            <a:picLocks noChangeAspect="1"/>
          </p:cNvPicPr>
          <p:nvPr/>
        </p:nvPicPr>
        <p:blipFill>
          <a:blip r:embed="rId3"/>
          <a:srcRect l="46657" r="13849" b="-2"/>
          <a:stretch>
            <a:fillRect/>
          </a:stretch>
        </p:blipFill>
        <p:spPr>
          <a:xfrm>
            <a:off x="20" y="-2"/>
            <a:ext cx="4057627" cy="6858002"/>
          </a:xfrm>
          <a:prstGeom prst="rect">
            <a:avLst/>
          </a:prstGeom>
        </p:spPr>
      </p:pic>
      <p:sp>
        <p:nvSpPr>
          <p:cNvPr id="2" name="Title 1">
            <a:extLst>
              <a:ext uri="{FF2B5EF4-FFF2-40B4-BE49-F238E27FC236}">
                <a16:creationId xmlns:a16="http://schemas.microsoft.com/office/drawing/2014/main" id="{9DE7652B-EAAE-A0F8-AECC-80E7491D4CBC}"/>
              </a:ext>
            </a:extLst>
          </p:cNvPr>
          <p:cNvSpPr>
            <a:spLocks noGrp="1"/>
          </p:cNvSpPr>
          <p:nvPr>
            <p:ph type="title"/>
          </p:nvPr>
        </p:nvSpPr>
        <p:spPr>
          <a:xfrm>
            <a:off x="4586487" y="405685"/>
            <a:ext cx="4098726" cy="1559301"/>
          </a:xfrm>
        </p:spPr>
        <p:txBody>
          <a:bodyPr>
            <a:normAutofit fontScale="90000"/>
          </a:bodyPr>
          <a:lstStyle/>
          <a:p>
            <a:r>
              <a:rPr lang="en-US" sz="3600"/>
              <a:t>Limitations and Replication</a:t>
            </a:r>
            <a:br>
              <a:rPr lang="en-US" sz="3600"/>
            </a:br>
            <a:endParaRPr lang="en-US" sz="3500" b="1" i="1" dirty="0">
              <a:latin typeface="Calibri" pitchFamily="34" charset="0"/>
              <a:cs typeface="Calibri" pitchFamily="34" charset="-120"/>
            </a:endParaRPr>
          </a:p>
        </p:txBody>
      </p:sp>
      <p:graphicFrame>
        <p:nvGraphicFramePr>
          <p:cNvPr id="7" name="Content Placeholder 2">
            <a:extLst>
              <a:ext uri="{FF2B5EF4-FFF2-40B4-BE49-F238E27FC236}">
                <a16:creationId xmlns:a16="http://schemas.microsoft.com/office/drawing/2014/main" id="{6D524237-C91D-AF8D-A7CB-72A0CF947DF6}"/>
              </a:ext>
            </a:extLst>
          </p:cNvPr>
          <p:cNvGraphicFramePr>
            <a:graphicFrameLocks noGrp="1"/>
          </p:cNvGraphicFramePr>
          <p:nvPr>
            <p:ph idx="1"/>
            <p:extLst>
              <p:ext uri="{D42A27DB-BD31-4B8C-83A1-F6EECF244321}">
                <p14:modId xmlns:p14="http://schemas.microsoft.com/office/powerpoint/2010/main" val="3021982316"/>
              </p:ext>
            </p:extLst>
          </p:nvPr>
        </p:nvGraphicFramePr>
        <p:xfrm>
          <a:off x="4211393" y="1429555"/>
          <a:ext cx="4790940" cy="4810523"/>
        </p:xfrm>
        <a:graphic>
          <a:graphicData uri="http://schemas.openxmlformats.org/drawingml/2006/diagram">
            <dgm:relIds xmlns:dgm="http://schemas.openxmlformats.org/drawingml/2006/diagram" xmlns:r="http://schemas.openxmlformats.org/officeDocument/2006/relationships" r:dm="rId4" r:lo="rId5" r:qs="rId6" r:cs="rId7"/>
          </a:graphicData>
        </a:graphic>
      </p:graphicFrame>
    </p:spTree>
    <p:extLst>
      <p:ext uri="{BB962C8B-B14F-4D97-AF65-F5344CB8AC3E}">
        <p14:creationId xmlns:p14="http://schemas.microsoft.com/office/powerpoint/2010/main" val="1263401358"/>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
  <TotalTime>2089</TotalTime>
  <Words>1490</Words>
  <Application>Microsoft Macintosh PowerPoint</Application>
  <PresentationFormat>On-screen Show (4:3)</PresentationFormat>
  <Paragraphs>147</Paragraphs>
  <Slides>14</Slides>
  <Notes>12</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14</vt:i4>
      </vt:variant>
    </vt:vector>
  </HeadingPairs>
  <TitlesOfParts>
    <vt:vector size="20" baseType="lpstr">
      <vt:lpstr>Aptos</vt:lpstr>
      <vt:lpstr>Arial</vt:lpstr>
      <vt:lpstr>Calibri</vt:lpstr>
      <vt:lpstr>Helvetica Neue Medium</vt:lpstr>
      <vt:lpstr>Wingdings</vt:lpstr>
      <vt:lpstr>Office Theme</vt:lpstr>
      <vt:lpstr>Predicting ICU Length of Stay in Diabetic Patients Using MIMIC-III and Machine Learning</vt:lpstr>
      <vt:lpstr>Tutorial Objective</vt:lpstr>
      <vt:lpstr>Diabetes Topic Matters</vt:lpstr>
      <vt:lpstr>Project Objective</vt:lpstr>
      <vt:lpstr>Research Question</vt:lpstr>
      <vt:lpstr>Cohort Selection</vt:lpstr>
      <vt:lpstr>Feature Engineering</vt:lpstr>
      <vt:lpstr>Target Variable</vt:lpstr>
      <vt:lpstr>Machine Learning Pipeline</vt:lpstr>
      <vt:lpstr>Evaluation-Baseline model: Logistic Regression </vt:lpstr>
      <vt:lpstr>Evaluation Tree-based model: Random Forest </vt:lpstr>
      <vt:lpstr>Confusion matrix  </vt:lpstr>
      <vt:lpstr>Results and Interpretation</vt:lpstr>
      <vt:lpstr>Limitations and Replication </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Abhishek Raman</cp:lastModifiedBy>
  <cp:revision>96</cp:revision>
  <dcterms:created xsi:type="dcterms:W3CDTF">2013-01-27T09:14:16Z</dcterms:created>
  <dcterms:modified xsi:type="dcterms:W3CDTF">2026-03-14T04:34:06Z</dcterms:modified>
  <cp:category/>
</cp:coreProperties>
</file>